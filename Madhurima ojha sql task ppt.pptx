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Ex1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2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9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0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1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1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19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0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7" r:id="rId2"/>
    <p:sldId id="258" r:id="rId3"/>
    <p:sldId id="259" r:id="rId4"/>
    <p:sldId id="260" r:id="rId5"/>
    <p:sldId id="284" r:id="rId6"/>
    <p:sldId id="261" r:id="rId7"/>
    <p:sldId id="285" r:id="rId8"/>
    <p:sldId id="262" r:id="rId9"/>
    <p:sldId id="286" r:id="rId10"/>
    <p:sldId id="263" r:id="rId11"/>
    <p:sldId id="293" r:id="rId12"/>
    <p:sldId id="264" r:id="rId13"/>
    <p:sldId id="287" r:id="rId14"/>
    <p:sldId id="265" r:id="rId15"/>
    <p:sldId id="288" r:id="rId16"/>
    <p:sldId id="266" r:id="rId17"/>
    <p:sldId id="289" r:id="rId18"/>
    <p:sldId id="267" r:id="rId19"/>
    <p:sldId id="290" r:id="rId20"/>
    <p:sldId id="268" r:id="rId21"/>
    <p:sldId id="291" r:id="rId22"/>
    <p:sldId id="269" r:id="rId23"/>
    <p:sldId id="292" r:id="rId24"/>
    <p:sldId id="270" r:id="rId25"/>
    <p:sldId id="294" r:id="rId26"/>
    <p:sldId id="271" r:id="rId27"/>
    <p:sldId id="295" r:id="rId28"/>
    <p:sldId id="272" r:id="rId29"/>
    <p:sldId id="296" r:id="rId30"/>
    <p:sldId id="273" r:id="rId31"/>
    <p:sldId id="297" r:id="rId32"/>
    <p:sldId id="274" r:id="rId33"/>
    <p:sldId id="298" r:id="rId34"/>
    <p:sldId id="275" r:id="rId35"/>
    <p:sldId id="299" r:id="rId36"/>
    <p:sldId id="276" r:id="rId37"/>
    <p:sldId id="300" r:id="rId38"/>
    <p:sldId id="277" r:id="rId39"/>
    <p:sldId id="301" r:id="rId40"/>
    <p:sldId id="278" r:id="rId41"/>
    <p:sldId id="302" r:id="rId42"/>
    <p:sldId id="279" r:id="rId43"/>
    <p:sldId id="303" r:id="rId44"/>
    <p:sldId id="281" r:id="rId45"/>
    <p:sldId id="304" r:id="rId46"/>
    <p:sldId id="282" r:id="rId47"/>
    <p:sldId id="305" r:id="rId48"/>
    <p:sldId id="283" r:id="rId49"/>
    <p:sldId id="306" r:id="rId50"/>
    <p:sldId id="307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249A3-57DE-4ACC-94A9-22719447E818}" v="1" dt="2025-10-12T17:19:21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RANJAN" userId="659ff3ba97514707" providerId="LiveId" clId="{8664665E-F510-4F60-9239-B1E4541149FA}"/>
    <pc:docChg chg="addSld modSld">
      <pc:chgData name="RAVI RANJAN" userId="659ff3ba97514707" providerId="LiveId" clId="{8664665E-F510-4F60-9239-B1E4541149FA}" dt="2025-10-12T17:19:57.781" v="27" actId="255"/>
      <pc:docMkLst>
        <pc:docMk/>
      </pc:docMkLst>
      <pc:sldChg chg="modSp new mod">
        <pc:chgData name="RAVI RANJAN" userId="659ff3ba97514707" providerId="LiveId" clId="{8664665E-F510-4F60-9239-B1E4541149FA}" dt="2025-10-12T17:19:57.781" v="27" actId="255"/>
        <pc:sldMkLst>
          <pc:docMk/>
          <pc:sldMk cId="3067253825" sldId="307"/>
        </pc:sldMkLst>
        <pc:spChg chg="mod">
          <ac:chgData name="RAVI RANJAN" userId="659ff3ba97514707" providerId="LiveId" clId="{8664665E-F510-4F60-9239-B1E4541149FA}" dt="2025-10-12T17:19:57.781" v="27" actId="255"/>
          <ac:spMkLst>
            <pc:docMk/>
            <pc:sldMk cId="3067253825" sldId="307"/>
            <ac:spMk id="2" creationId="{441855DB-F574-F930-73B4-C27D0A6E34A9}"/>
          </ac:spMkLst>
        </pc:spChg>
        <pc:spChg chg="mod">
          <ac:chgData name="RAVI RANJAN" userId="659ff3ba97514707" providerId="LiveId" clId="{8664665E-F510-4F60-9239-B1E4541149FA}" dt="2025-10-12T17:19:21.932" v="1"/>
          <ac:spMkLst>
            <pc:docMk/>
            <pc:sldMk cId="3067253825" sldId="307"/>
            <ac:spMk id="3" creationId="{4E009F3B-A669-088A-6142-1E79EBC8949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Book1" TargetMode="External"/></Relationships>
</file>

<file path=ppt/charts/_rels/chartEx2.xml.rels><?xml version="1.0" encoding="UTF-8" standalone="yes"?>
<Relationships xmlns="http://schemas.openxmlformats.org/package/2006/relationships"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Count of Order_ID by Warehouse_ID and Delivery_Status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Delayed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W001</c:v>
              </c:pt>
              <c:pt idx="1">
                <c:v>W002</c:v>
              </c:pt>
              <c:pt idx="2">
                <c:v>W003</c:v>
              </c:pt>
              <c:pt idx="3">
                <c:v>W004</c:v>
              </c:pt>
              <c:pt idx="4">
                <c:v>W005</c:v>
              </c:pt>
              <c:pt idx="5">
                <c:v>W006</c:v>
              </c:pt>
              <c:pt idx="6">
                <c:v>W007</c:v>
              </c:pt>
              <c:pt idx="7">
                <c:v>W008</c:v>
              </c:pt>
              <c:pt idx="8">
                <c:v>W009</c:v>
              </c:pt>
              <c:pt idx="9">
                <c:v>W010</c:v>
              </c:pt>
            </c:strLit>
          </c:cat>
          <c:val>
            <c:numLit>
              <c:formatCode>General</c:formatCode>
              <c:ptCount val="10"/>
              <c:pt idx="0">
                <c:v>18</c:v>
              </c:pt>
              <c:pt idx="1">
                <c:v>10</c:v>
              </c:pt>
              <c:pt idx="2">
                <c:v>13</c:v>
              </c:pt>
              <c:pt idx="3">
                <c:v>12</c:v>
              </c:pt>
              <c:pt idx="4">
                <c:v>14</c:v>
              </c:pt>
              <c:pt idx="5">
                <c:v>12</c:v>
              </c:pt>
              <c:pt idx="6">
                <c:v>15</c:v>
              </c:pt>
              <c:pt idx="7">
                <c:v>5</c:v>
              </c:pt>
              <c:pt idx="8">
                <c:v>13</c:v>
              </c:pt>
              <c:pt idx="9">
                <c:v>20</c:v>
              </c:pt>
            </c:numLit>
          </c:val>
          <c:extLst>
            <c:ext xmlns:c16="http://schemas.microsoft.com/office/drawing/2014/chart" uri="{C3380CC4-5D6E-409C-BE32-E72D297353CC}">
              <c16:uniqueId val="{00000000-FE06-42BF-8774-8A80186BE26D}"/>
            </c:ext>
          </c:extLst>
        </c:ser>
        <c:ser>
          <c:idx val="1"/>
          <c:order val="1"/>
          <c:tx>
            <c:v>On Time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W001</c:v>
              </c:pt>
              <c:pt idx="1">
                <c:v>W002</c:v>
              </c:pt>
              <c:pt idx="2">
                <c:v>W003</c:v>
              </c:pt>
              <c:pt idx="3">
                <c:v>W004</c:v>
              </c:pt>
              <c:pt idx="4">
                <c:v>W005</c:v>
              </c:pt>
              <c:pt idx="5">
                <c:v>W006</c:v>
              </c:pt>
              <c:pt idx="6">
                <c:v>W007</c:v>
              </c:pt>
              <c:pt idx="7">
                <c:v>W008</c:v>
              </c:pt>
              <c:pt idx="8">
                <c:v>W009</c:v>
              </c:pt>
              <c:pt idx="9">
                <c:v>W010</c:v>
              </c:pt>
            </c:strLit>
          </c:cat>
          <c:val>
            <c:numLit>
              <c:formatCode>General</c:formatCode>
              <c:ptCount val="10"/>
              <c:pt idx="0">
                <c:v>16</c:v>
              </c:pt>
              <c:pt idx="1">
                <c:v>18</c:v>
              </c:pt>
              <c:pt idx="2">
                <c:v>10</c:v>
              </c:pt>
              <c:pt idx="3">
                <c:v>19</c:v>
              </c:pt>
              <c:pt idx="4">
                <c:v>11</c:v>
              </c:pt>
              <c:pt idx="5">
                <c:v>25</c:v>
              </c:pt>
              <c:pt idx="6">
                <c:v>23</c:v>
              </c:pt>
              <c:pt idx="7">
                <c:v>16</c:v>
              </c:pt>
              <c:pt idx="8">
                <c:v>20</c:v>
              </c:pt>
              <c:pt idx="9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1-FE06-42BF-8774-8A80186BE2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1657680"/>
        <c:axId val="1311661520"/>
      </c:barChart>
      <c:catAx>
        <c:axId val="131165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661520"/>
        <c:crosses val="autoZero"/>
        <c:auto val="1"/>
        <c:lblAlgn val="ctr"/>
        <c:lblOffset val="100"/>
        <c:noMultiLvlLbl val="0"/>
      </c:catAx>
      <c:valAx>
        <c:axId val="1311661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65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Sum of Delay_Rank_Within_Warehouse by Route_ID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20"/>
              <c:pt idx="0">
                <c:v>R001</c:v>
              </c:pt>
              <c:pt idx="1">
                <c:v>R002</c:v>
              </c:pt>
              <c:pt idx="2">
                <c:v>R003</c:v>
              </c:pt>
              <c:pt idx="3">
                <c:v>R004</c:v>
              </c:pt>
              <c:pt idx="4">
                <c:v>R005</c:v>
              </c:pt>
              <c:pt idx="5">
                <c:v>R006</c:v>
              </c:pt>
              <c:pt idx="6">
                <c:v>R007</c:v>
              </c:pt>
              <c:pt idx="7">
                <c:v>R008</c:v>
              </c:pt>
              <c:pt idx="8">
                <c:v>R009</c:v>
              </c:pt>
              <c:pt idx="9">
                <c:v>R010</c:v>
              </c:pt>
              <c:pt idx="10">
                <c:v>R011</c:v>
              </c:pt>
              <c:pt idx="11">
                <c:v>R012</c:v>
              </c:pt>
              <c:pt idx="12">
                <c:v>R013</c:v>
              </c:pt>
              <c:pt idx="13">
                <c:v>R014</c:v>
              </c:pt>
              <c:pt idx="14">
                <c:v>R015</c:v>
              </c:pt>
              <c:pt idx="15">
                <c:v>R016</c:v>
              </c:pt>
              <c:pt idx="16">
                <c:v>R017</c:v>
              </c:pt>
              <c:pt idx="17">
                <c:v>R018</c:v>
              </c:pt>
              <c:pt idx="18">
                <c:v>R019</c:v>
              </c:pt>
              <c:pt idx="19">
                <c:v>R020</c:v>
              </c:pt>
            </c:strLit>
          </c:cat>
          <c:val>
            <c:numLit>
              <c:formatCode>General</c:formatCode>
              <c:ptCount val="20"/>
              <c:pt idx="0">
                <c:v>15</c:v>
              </c:pt>
              <c:pt idx="1">
                <c:v>22</c:v>
              </c:pt>
              <c:pt idx="2">
                <c:v>10</c:v>
              </c:pt>
              <c:pt idx="3">
                <c:v>20</c:v>
              </c:pt>
              <c:pt idx="4">
                <c:v>15</c:v>
              </c:pt>
              <c:pt idx="5">
                <c:v>11</c:v>
              </c:pt>
              <c:pt idx="6">
                <c:v>16</c:v>
              </c:pt>
              <c:pt idx="7">
                <c:v>16</c:v>
              </c:pt>
              <c:pt idx="8">
                <c:v>16</c:v>
              </c:pt>
              <c:pt idx="9">
                <c:v>20</c:v>
              </c:pt>
              <c:pt idx="10">
                <c:v>20</c:v>
              </c:pt>
              <c:pt idx="11">
                <c:v>12</c:v>
              </c:pt>
              <c:pt idx="12">
                <c:v>17</c:v>
              </c:pt>
              <c:pt idx="13">
                <c:v>13</c:v>
              </c:pt>
              <c:pt idx="14">
                <c:v>6</c:v>
              </c:pt>
              <c:pt idx="15">
                <c:v>12</c:v>
              </c:pt>
              <c:pt idx="16">
                <c:v>14</c:v>
              </c:pt>
              <c:pt idx="17">
                <c:v>15</c:v>
              </c:pt>
              <c:pt idx="18">
                <c:v>13</c:v>
              </c:pt>
              <c:pt idx="19">
                <c:v>17</c:v>
              </c:pt>
            </c:numLit>
          </c:val>
          <c:extLst>
            <c:ext xmlns:c16="http://schemas.microsoft.com/office/drawing/2014/chart" uri="{C3380CC4-5D6E-409C-BE32-E72D297353CC}">
              <c16:uniqueId val="{00000000-D656-4443-BFC6-056F4C33A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0408944"/>
        <c:axId val="150402224"/>
      </c:barChart>
      <c:catAx>
        <c:axId val="15040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402224"/>
        <c:crosses val="autoZero"/>
        <c:auto val="1"/>
        <c:lblAlgn val="ctr"/>
        <c:lblOffset val="100"/>
        <c:noMultiLvlLbl val="0"/>
      </c:catAx>
      <c:valAx>
        <c:axId val="150402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40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[Book1]Sheet2!PivotTable15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Sum of Delay_Rank_Within_Warehouse by Route_ID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Count of Delay_Rank_Within_Warehouse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Sheet2!$A$4:$A$13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Sheet2!$B$4:$B$13</c:f>
              <c:numCache>
                <c:formatCode>General</c:formatCode>
                <c:ptCount val="10"/>
                <c:pt idx="0">
                  <c:v>34</c:v>
                </c:pt>
                <c:pt idx="1">
                  <c:v>28</c:v>
                </c:pt>
                <c:pt idx="2">
                  <c:v>23</c:v>
                </c:pt>
                <c:pt idx="3">
                  <c:v>31</c:v>
                </c:pt>
                <c:pt idx="4">
                  <c:v>25</c:v>
                </c:pt>
                <c:pt idx="5">
                  <c:v>37</c:v>
                </c:pt>
                <c:pt idx="6">
                  <c:v>38</c:v>
                </c:pt>
                <c:pt idx="7">
                  <c:v>21</c:v>
                </c:pt>
                <c:pt idx="8">
                  <c:v>33</c:v>
                </c:pt>
                <c:pt idx="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7-490E-B6CE-A0D0EAF4AE46}"/>
            </c:ext>
          </c:extLst>
        </c:ser>
        <c:ser>
          <c:idx val="1"/>
          <c:order val="1"/>
          <c:tx>
            <c:strRef>
              <c:f>Sheet2!$C$3</c:f>
              <c:strCache>
                <c:ptCount val="1"/>
                <c:pt idx="0">
                  <c:v>Count of Delivery_Delay_Days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Sheet2!$A$4:$A$13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Sheet2!$C$4:$C$13</c:f>
              <c:numCache>
                <c:formatCode>General</c:formatCode>
                <c:ptCount val="10"/>
                <c:pt idx="0">
                  <c:v>34</c:v>
                </c:pt>
                <c:pt idx="1">
                  <c:v>28</c:v>
                </c:pt>
                <c:pt idx="2">
                  <c:v>23</c:v>
                </c:pt>
                <c:pt idx="3">
                  <c:v>31</c:v>
                </c:pt>
                <c:pt idx="4">
                  <c:v>25</c:v>
                </c:pt>
                <c:pt idx="5">
                  <c:v>37</c:v>
                </c:pt>
                <c:pt idx="6">
                  <c:v>38</c:v>
                </c:pt>
                <c:pt idx="7">
                  <c:v>21</c:v>
                </c:pt>
                <c:pt idx="8">
                  <c:v>33</c:v>
                </c:pt>
                <c:pt idx="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37-490E-B6CE-A0D0EAF4AE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33411503"/>
        <c:axId val="1033410063"/>
      </c:barChart>
      <c:catAx>
        <c:axId val="103341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3410063"/>
        <c:crosses val="autoZero"/>
        <c:auto val="1"/>
        <c:lblAlgn val="ctr"/>
        <c:lblOffset val="100"/>
        <c:noMultiLvlLbl val="0"/>
      </c:catAx>
      <c:valAx>
        <c:axId val="1033410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3411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410514569038284"/>
          <c:y val="0.16952149754079018"/>
          <c:w val="0.47856898177413487"/>
          <c:h val="0.68852235796573902"/>
        </c:manualLayout>
      </c:layout>
      <c:doughnutChart>
        <c:varyColors val="1"/>
        <c:ser>
          <c:idx val="0"/>
          <c:order val="0"/>
          <c:tx>
            <c:strRef>
              <c:f>'[Book1]sql3 2 (2)'!$B$1</c:f>
              <c:strCache>
                <c:ptCount val="1"/>
                <c:pt idx="0">
                  <c:v>Average_Traffic_Delay_Min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300-4662-B9A1-BF217993C8E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300-4662-B9A1-BF217993C8E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300-4662-B9A1-BF217993C8E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300-4662-B9A1-BF217993C8E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300-4662-B9A1-BF217993C8E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300-4662-B9A1-BF217993C8E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300-4662-B9A1-BF217993C8E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A300-4662-B9A1-BF217993C8EE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A300-4662-B9A1-BF217993C8EE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A300-4662-B9A1-BF217993C8EE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A300-4662-B9A1-BF217993C8EE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A300-4662-B9A1-BF217993C8EE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A300-4662-B9A1-BF217993C8EE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A300-4662-B9A1-BF217993C8EE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A300-4662-B9A1-BF217993C8EE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A300-4662-B9A1-BF217993C8EE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A300-4662-B9A1-BF217993C8EE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A300-4662-B9A1-BF217993C8EE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A300-4662-B9A1-BF217993C8EE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A300-4662-B9A1-BF217993C8E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'[Book1]sql3 2 (2)'!$A$2:$A$21</c:f>
              <c:strCache>
                <c:ptCount val="20"/>
                <c:pt idx="0">
                  <c:v>R014</c:v>
                </c:pt>
                <c:pt idx="1">
                  <c:v>R007</c:v>
                </c:pt>
                <c:pt idx="2">
                  <c:v>R009</c:v>
                </c:pt>
                <c:pt idx="3">
                  <c:v>R006</c:v>
                </c:pt>
                <c:pt idx="4">
                  <c:v>R010</c:v>
                </c:pt>
                <c:pt idx="5">
                  <c:v>R013</c:v>
                </c:pt>
                <c:pt idx="6">
                  <c:v>R019</c:v>
                </c:pt>
                <c:pt idx="7">
                  <c:v>R001</c:v>
                </c:pt>
                <c:pt idx="8">
                  <c:v>R008</c:v>
                </c:pt>
                <c:pt idx="9">
                  <c:v>R012</c:v>
                </c:pt>
                <c:pt idx="10">
                  <c:v>R015</c:v>
                </c:pt>
                <c:pt idx="11">
                  <c:v>R005</c:v>
                </c:pt>
                <c:pt idx="12">
                  <c:v>R011</c:v>
                </c:pt>
                <c:pt idx="13">
                  <c:v>R020</c:v>
                </c:pt>
                <c:pt idx="14">
                  <c:v>R002</c:v>
                </c:pt>
                <c:pt idx="15">
                  <c:v>R003</c:v>
                </c:pt>
                <c:pt idx="16">
                  <c:v>R018</c:v>
                </c:pt>
                <c:pt idx="17">
                  <c:v>R016</c:v>
                </c:pt>
                <c:pt idx="18">
                  <c:v>R017</c:v>
                </c:pt>
                <c:pt idx="19">
                  <c:v>R004</c:v>
                </c:pt>
              </c:strCache>
            </c:strRef>
          </c:cat>
          <c:val>
            <c:numRef>
              <c:f>'[Book1]sql3 2 (2)'!$B$2:$B$21</c:f>
              <c:numCache>
                <c:formatCode>General</c:formatCode>
                <c:ptCount val="20"/>
                <c:pt idx="0">
                  <c:v>58</c:v>
                </c:pt>
                <c:pt idx="1">
                  <c:v>51</c:v>
                </c:pt>
                <c:pt idx="2">
                  <c:v>46</c:v>
                </c:pt>
                <c:pt idx="3">
                  <c:v>42</c:v>
                </c:pt>
                <c:pt idx="4">
                  <c:v>40</c:v>
                </c:pt>
                <c:pt idx="5">
                  <c:v>38</c:v>
                </c:pt>
                <c:pt idx="6">
                  <c:v>37</c:v>
                </c:pt>
                <c:pt idx="7">
                  <c:v>36</c:v>
                </c:pt>
                <c:pt idx="8">
                  <c:v>34</c:v>
                </c:pt>
                <c:pt idx="9">
                  <c:v>29</c:v>
                </c:pt>
                <c:pt idx="10">
                  <c:v>29</c:v>
                </c:pt>
                <c:pt idx="11">
                  <c:v>26</c:v>
                </c:pt>
                <c:pt idx="12">
                  <c:v>25</c:v>
                </c:pt>
                <c:pt idx="13">
                  <c:v>23</c:v>
                </c:pt>
                <c:pt idx="14">
                  <c:v>22</c:v>
                </c:pt>
                <c:pt idx="15">
                  <c:v>11</c:v>
                </c:pt>
                <c:pt idx="16">
                  <c:v>11</c:v>
                </c:pt>
                <c:pt idx="17">
                  <c:v>8</c:v>
                </c:pt>
                <c:pt idx="18">
                  <c:v>8</c:v>
                </c:pt>
                <c:pt idx="1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A300-4662-B9A1-BF217993C8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'sql3 3 (3)'!$B$1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'sql3 3 (3)'!$A$2:$A$21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'sql3 3 (3)'!$B$2:$B$21</c:f>
              <c:numCache>
                <c:formatCode>General</c:formatCode>
                <c:ptCount val="20"/>
                <c:pt idx="0">
                  <c:v>0.61367924528301887</c:v>
                </c:pt>
                <c:pt idx="1">
                  <c:v>2.1561797752808989</c:v>
                </c:pt>
                <c:pt idx="2">
                  <c:v>0.58157894736842108</c:v>
                </c:pt>
                <c:pt idx="3">
                  <c:v>4.2781250000000002</c:v>
                </c:pt>
                <c:pt idx="4">
                  <c:v>0.37382198952879586</c:v>
                </c:pt>
                <c:pt idx="5">
                  <c:v>0.16065573770491803</c:v>
                </c:pt>
                <c:pt idx="6">
                  <c:v>0.28250950570342204</c:v>
                </c:pt>
                <c:pt idx="7">
                  <c:v>0.24372093023255814</c:v>
                </c:pt>
                <c:pt idx="8">
                  <c:v>0.60478468899521531</c:v>
                </c:pt>
                <c:pt idx="9">
                  <c:v>0.66860465116279066</c:v>
                </c:pt>
                <c:pt idx="10">
                  <c:v>0.95561797752808986</c:v>
                </c:pt>
                <c:pt idx="11">
                  <c:v>0.90363636363636368</c:v>
                </c:pt>
                <c:pt idx="12">
                  <c:v>0.93249999999999988</c:v>
                </c:pt>
                <c:pt idx="13">
                  <c:v>2.2781818181818183</c:v>
                </c:pt>
                <c:pt idx="14">
                  <c:v>0.30086956521739133</c:v>
                </c:pt>
                <c:pt idx="15">
                  <c:v>0.15120481927710844</c:v>
                </c:pt>
                <c:pt idx="16">
                  <c:v>0.32800000000000001</c:v>
                </c:pt>
                <c:pt idx="17">
                  <c:v>0.53660377358490563</c:v>
                </c:pt>
                <c:pt idx="18">
                  <c:v>3.7693877551020405</c:v>
                </c:pt>
                <c:pt idx="19">
                  <c:v>0.55029239766081872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2-4700-BB48-47F156D1A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82520576"/>
        <c:axId val="1482520096"/>
      </c:barChart>
      <c:catAx>
        <c:axId val="148252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2520096"/>
        <c:crosses val="autoZero"/>
        <c:auto val="1"/>
        <c:lblAlgn val="ctr"/>
        <c:lblOffset val="100"/>
        <c:noMultiLvlLbl val="0"/>
      </c:catAx>
      <c:valAx>
        <c:axId val="1482520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2520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'sql3 3 0 (2)'!$B$1</c:f>
              <c:strCache>
                <c:ptCount val="1"/>
                <c:pt idx="0">
                  <c:v>Efficiency_Ratio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37-465A-99D0-C2DC209943F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37-465A-99D0-C2DC209943F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37-465A-99D0-C2DC209943FE}"/>
              </c:ext>
            </c:extLst>
          </c:dPt>
          <c:cat>
            <c:strRef>
              <c:f>'sql3 3 0 (2)'!$A$2:$A$4</c:f>
              <c:strCache>
                <c:ptCount val="3"/>
                <c:pt idx="0">
                  <c:v>R004</c:v>
                </c:pt>
                <c:pt idx="1">
                  <c:v>R019</c:v>
                </c:pt>
                <c:pt idx="2">
                  <c:v>R014</c:v>
                </c:pt>
              </c:strCache>
            </c:strRef>
          </c:cat>
          <c:val>
            <c:numRef>
              <c:f>'sql3 3 0 (2)'!$B$2:$B$4</c:f>
              <c:numCache>
                <c:formatCode>General</c:formatCode>
                <c:ptCount val="3"/>
                <c:pt idx="0">
                  <c:v>4.2781250000000002</c:v>
                </c:pt>
                <c:pt idx="1">
                  <c:v>3.7693877551020405</c:v>
                </c:pt>
                <c:pt idx="2">
                  <c:v>2.2781818181818183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37-465A-99D0-C2DC209943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'sql3 final'!$B$1</c:f>
              <c:strCache>
                <c:ptCount val="1"/>
                <c:pt idx="0">
                  <c:v>Delayed_Shipment_Percentage</c:v>
                </c:pt>
              </c:strCache>
            </c:strRef>
          </c:tx>
          <c:spPr>
            <a:gradFill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'sql3 final'!$A$2:$A$21</c:f>
              <c:strCache>
                <c:ptCount val="20"/>
                <c:pt idx="0">
                  <c:v>R020</c:v>
                </c:pt>
                <c:pt idx="1">
                  <c:v>R012</c:v>
                </c:pt>
                <c:pt idx="2">
                  <c:v>R017</c:v>
                </c:pt>
                <c:pt idx="3">
                  <c:v>R013</c:v>
                </c:pt>
                <c:pt idx="4">
                  <c:v>R015</c:v>
                </c:pt>
                <c:pt idx="5">
                  <c:v>R004</c:v>
                </c:pt>
                <c:pt idx="6">
                  <c:v>R005</c:v>
                </c:pt>
                <c:pt idx="7">
                  <c:v>R010</c:v>
                </c:pt>
                <c:pt idx="8">
                  <c:v>R011</c:v>
                </c:pt>
                <c:pt idx="9">
                  <c:v>R007</c:v>
                </c:pt>
                <c:pt idx="10">
                  <c:v>R018</c:v>
                </c:pt>
                <c:pt idx="11">
                  <c:v>R003</c:v>
                </c:pt>
                <c:pt idx="12">
                  <c:v>R001</c:v>
                </c:pt>
                <c:pt idx="13">
                  <c:v>R014</c:v>
                </c:pt>
                <c:pt idx="14">
                  <c:v>R009</c:v>
                </c:pt>
                <c:pt idx="15">
                  <c:v>R006</c:v>
                </c:pt>
                <c:pt idx="16">
                  <c:v>R002</c:v>
                </c:pt>
                <c:pt idx="17">
                  <c:v>R008</c:v>
                </c:pt>
                <c:pt idx="18">
                  <c:v>R019</c:v>
                </c:pt>
                <c:pt idx="19">
                  <c:v>R016</c:v>
                </c:pt>
              </c:strCache>
            </c:strRef>
          </c:cat>
          <c:val>
            <c:numRef>
              <c:f>'sql3 final'!$B$2:$B$21</c:f>
              <c:numCache>
                <c:formatCode>General</c:formatCode>
                <c:ptCount val="20"/>
                <c:pt idx="0">
                  <c:v>70.588239999999999</c:v>
                </c:pt>
                <c:pt idx="1">
                  <c:v>66.666669999999996</c:v>
                </c:pt>
                <c:pt idx="2">
                  <c:v>57.142859999999999</c:v>
                </c:pt>
                <c:pt idx="3">
                  <c:v>52.941180000000003</c:v>
                </c:pt>
                <c:pt idx="4">
                  <c:v>50</c:v>
                </c:pt>
                <c:pt idx="5">
                  <c:v>50</c:v>
                </c:pt>
                <c:pt idx="6">
                  <c:v>46.666670000000003</c:v>
                </c:pt>
                <c:pt idx="7">
                  <c:v>45</c:v>
                </c:pt>
                <c:pt idx="8">
                  <c:v>45</c:v>
                </c:pt>
                <c:pt idx="9">
                  <c:v>43.75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38.461539999999999</c:v>
                </c:pt>
                <c:pt idx="14">
                  <c:v>37.5</c:v>
                </c:pt>
                <c:pt idx="15">
                  <c:v>36.363639999999997</c:v>
                </c:pt>
                <c:pt idx="16">
                  <c:v>31.818180000000002</c:v>
                </c:pt>
                <c:pt idx="17">
                  <c:v>31.25</c:v>
                </c:pt>
                <c:pt idx="18">
                  <c:v>30.76923</c:v>
                </c:pt>
                <c:pt idx="19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37-4453-8311-A05F95D388DB}"/>
            </c:ext>
          </c:extLst>
        </c:ser>
        <c:ser>
          <c:idx val="1"/>
          <c:order val="1"/>
          <c:tx>
            <c:strRef>
              <c:f>'sql3 final'!$C$1</c:f>
              <c:strCache>
                <c:ptCount val="1"/>
                <c:pt idx="0">
                  <c:v>Efficiency_Ratio</c:v>
                </c:pt>
              </c:strCache>
            </c:strRef>
          </c:tx>
          <c:spPr>
            <a:gradFill>
              <a:gsLst>
                <a:gs pos="100000">
                  <a:schemeClr val="accent2">
                    <a:alpha val="0"/>
                  </a:schemeClr>
                </a:gs>
                <a:gs pos="50000">
                  <a:schemeClr val="accent2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'sql3 final'!$A$2:$A$21</c:f>
              <c:strCache>
                <c:ptCount val="20"/>
                <c:pt idx="0">
                  <c:v>R020</c:v>
                </c:pt>
                <c:pt idx="1">
                  <c:v>R012</c:v>
                </c:pt>
                <c:pt idx="2">
                  <c:v>R017</c:v>
                </c:pt>
                <c:pt idx="3">
                  <c:v>R013</c:v>
                </c:pt>
                <c:pt idx="4">
                  <c:v>R015</c:v>
                </c:pt>
                <c:pt idx="5">
                  <c:v>R004</c:v>
                </c:pt>
                <c:pt idx="6">
                  <c:v>R005</c:v>
                </c:pt>
                <c:pt idx="7">
                  <c:v>R010</c:v>
                </c:pt>
                <c:pt idx="8">
                  <c:v>R011</c:v>
                </c:pt>
                <c:pt idx="9">
                  <c:v>R007</c:v>
                </c:pt>
                <c:pt idx="10">
                  <c:v>R018</c:v>
                </c:pt>
                <c:pt idx="11">
                  <c:v>R003</c:v>
                </c:pt>
                <c:pt idx="12">
                  <c:v>R001</c:v>
                </c:pt>
                <c:pt idx="13">
                  <c:v>R014</c:v>
                </c:pt>
                <c:pt idx="14">
                  <c:v>R009</c:v>
                </c:pt>
                <c:pt idx="15">
                  <c:v>R006</c:v>
                </c:pt>
                <c:pt idx="16">
                  <c:v>R002</c:v>
                </c:pt>
                <c:pt idx="17">
                  <c:v>R008</c:v>
                </c:pt>
                <c:pt idx="18">
                  <c:v>R019</c:v>
                </c:pt>
                <c:pt idx="19">
                  <c:v>R016</c:v>
                </c:pt>
              </c:strCache>
            </c:strRef>
          </c:cat>
          <c:val>
            <c:numRef>
              <c:f>'sql3 final'!$C$2:$C$21</c:f>
              <c:numCache>
                <c:formatCode>General</c:formatCode>
                <c:ptCount val="20"/>
                <c:pt idx="0">
                  <c:v>0.55029239766081872</c:v>
                </c:pt>
                <c:pt idx="1">
                  <c:v>0.90363636363636368</c:v>
                </c:pt>
                <c:pt idx="2">
                  <c:v>0.32800000000000001</c:v>
                </c:pt>
                <c:pt idx="3">
                  <c:v>0.93249999999999988</c:v>
                </c:pt>
                <c:pt idx="4">
                  <c:v>0.30086956521739133</c:v>
                </c:pt>
                <c:pt idx="5">
                  <c:v>4.2781250000000002</c:v>
                </c:pt>
                <c:pt idx="6">
                  <c:v>0.37382198952879586</c:v>
                </c:pt>
                <c:pt idx="7">
                  <c:v>0.66860465116279066</c:v>
                </c:pt>
                <c:pt idx="8">
                  <c:v>0.95561797752808986</c:v>
                </c:pt>
                <c:pt idx="9">
                  <c:v>0.28250950570342204</c:v>
                </c:pt>
                <c:pt idx="10">
                  <c:v>0.53660377358490563</c:v>
                </c:pt>
                <c:pt idx="11">
                  <c:v>0.58157894736842108</c:v>
                </c:pt>
                <c:pt idx="12">
                  <c:v>0.61367924528301887</c:v>
                </c:pt>
                <c:pt idx="13">
                  <c:v>2.2781818181818183</c:v>
                </c:pt>
                <c:pt idx="14">
                  <c:v>0.60478468899521531</c:v>
                </c:pt>
                <c:pt idx="15">
                  <c:v>0.16065573770491803</c:v>
                </c:pt>
                <c:pt idx="16">
                  <c:v>2.1561797752808989</c:v>
                </c:pt>
                <c:pt idx="17">
                  <c:v>0.24372093023255814</c:v>
                </c:pt>
                <c:pt idx="18">
                  <c:v>3.7693877551020405</c:v>
                </c:pt>
                <c:pt idx="19">
                  <c:v>0.15120481927710844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37-4453-8311-A05F95D388DB}"/>
            </c:ext>
          </c:extLst>
        </c:ser>
        <c:ser>
          <c:idx val="2"/>
          <c:order val="2"/>
          <c:tx>
            <c:strRef>
              <c:f>'sql3 final'!$D$1</c:f>
              <c:strCache>
                <c:ptCount val="1"/>
                <c:pt idx="0">
                  <c:v>Traffic_Delay_Min</c:v>
                </c:pt>
              </c:strCache>
            </c:strRef>
          </c:tx>
          <c:spPr>
            <a:gradFill>
              <a:gsLst>
                <a:gs pos="100000">
                  <a:schemeClr val="accent3">
                    <a:alpha val="0"/>
                  </a:schemeClr>
                </a:gs>
                <a:gs pos="50000">
                  <a:schemeClr val="accent3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'sql3 final'!$A$2:$A$21</c:f>
              <c:strCache>
                <c:ptCount val="20"/>
                <c:pt idx="0">
                  <c:v>R020</c:v>
                </c:pt>
                <c:pt idx="1">
                  <c:v>R012</c:v>
                </c:pt>
                <c:pt idx="2">
                  <c:v>R017</c:v>
                </c:pt>
                <c:pt idx="3">
                  <c:v>R013</c:v>
                </c:pt>
                <c:pt idx="4">
                  <c:v>R015</c:v>
                </c:pt>
                <c:pt idx="5">
                  <c:v>R004</c:v>
                </c:pt>
                <c:pt idx="6">
                  <c:v>R005</c:v>
                </c:pt>
                <c:pt idx="7">
                  <c:v>R010</c:v>
                </c:pt>
                <c:pt idx="8">
                  <c:v>R011</c:v>
                </c:pt>
                <c:pt idx="9">
                  <c:v>R007</c:v>
                </c:pt>
                <c:pt idx="10">
                  <c:v>R018</c:v>
                </c:pt>
                <c:pt idx="11">
                  <c:v>R003</c:v>
                </c:pt>
                <c:pt idx="12">
                  <c:v>R001</c:v>
                </c:pt>
                <c:pt idx="13">
                  <c:v>R014</c:v>
                </c:pt>
                <c:pt idx="14">
                  <c:v>R009</c:v>
                </c:pt>
                <c:pt idx="15">
                  <c:v>R006</c:v>
                </c:pt>
                <c:pt idx="16">
                  <c:v>R002</c:v>
                </c:pt>
                <c:pt idx="17">
                  <c:v>R008</c:v>
                </c:pt>
                <c:pt idx="18">
                  <c:v>R019</c:v>
                </c:pt>
                <c:pt idx="19">
                  <c:v>R016</c:v>
                </c:pt>
              </c:strCache>
            </c:strRef>
          </c:cat>
          <c:val>
            <c:numRef>
              <c:f>'sql3 final'!$D$2:$D$21</c:f>
              <c:numCache>
                <c:formatCode>General</c:formatCode>
                <c:ptCount val="20"/>
                <c:pt idx="0">
                  <c:v>23</c:v>
                </c:pt>
                <c:pt idx="1">
                  <c:v>29</c:v>
                </c:pt>
                <c:pt idx="2">
                  <c:v>8</c:v>
                </c:pt>
                <c:pt idx="3">
                  <c:v>38</c:v>
                </c:pt>
                <c:pt idx="4">
                  <c:v>29</c:v>
                </c:pt>
                <c:pt idx="5">
                  <c:v>3</c:v>
                </c:pt>
                <c:pt idx="6">
                  <c:v>26</c:v>
                </c:pt>
                <c:pt idx="7">
                  <c:v>40</c:v>
                </c:pt>
                <c:pt idx="8">
                  <c:v>25</c:v>
                </c:pt>
                <c:pt idx="9">
                  <c:v>51</c:v>
                </c:pt>
                <c:pt idx="10">
                  <c:v>11</c:v>
                </c:pt>
                <c:pt idx="11">
                  <c:v>11</c:v>
                </c:pt>
                <c:pt idx="12">
                  <c:v>36</c:v>
                </c:pt>
                <c:pt idx="13">
                  <c:v>58</c:v>
                </c:pt>
                <c:pt idx="14">
                  <c:v>46</c:v>
                </c:pt>
                <c:pt idx="15">
                  <c:v>42</c:v>
                </c:pt>
                <c:pt idx="16">
                  <c:v>22</c:v>
                </c:pt>
                <c:pt idx="17">
                  <c:v>34</c:v>
                </c:pt>
                <c:pt idx="18">
                  <c:v>37</c:v>
                </c:pt>
                <c:pt idx="1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37-4453-8311-A05F95D38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1316392992"/>
        <c:axId val="1316394432"/>
        <c:axId val="0"/>
      </c:bar3DChart>
      <c:catAx>
        <c:axId val="131639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394432"/>
        <c:crosses val="autoZero"/>
        <c:auto val="1"/>
        <c:lblAlgn val="ctr"/>
        <c:lblOffset val="100"/>
        <c:noMultiLvlLbl val="0"/>
      </c:catAx>
      <c:valAx>
        <c:axId val="1316394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392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'sql4 1 (2)'!$B$1</c:f>
              <c:strCache>
                <c:ptCount val="1"/>
                <c:pt idx="0">
                  <c:v>avg_processing_time_min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50800" h="25400"/>
              </a:sp3d>
            </c:spPr>
            <c:extLst>
              <c:ext xmlns:c16="http://schemas.microsoft.com/office/drawing/2014/chart" uri="{C3380CC4-5D6E-409C-BE32-E72D297353CC}">
                <c16:uniqueId val="{00000001-D704-44D1-ACA9-EDEBAE05DC7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50800" h="25400"/>
              </a:sp3d>
            </c:spPr>
            <c:extLst>
              <c:ext xmlns:c16="http://schemas.microsoft.com/office/drawing/2014/chart" uri="{C3380CC4-5D6E-409C-BE32-E72D297353CC}">
                <c16:uniqueId val="{00000003-D704-44D1-ACA9-EDEBAE05DC7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50800" h="25400"/>
              </a:sp3d>
            </c:spPr>
            <c:extLst>
              <c:ext xmlns:c16="http://schemas.microsoft.com/office/drawing/2014/chart" uri="{C3380CC4-5D6E-409C-BE32-E72D297353CC}">
                <c16:uniqueId val="{00000005-D704-44D1-ACA9-EDEBAE05DC7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'sql4 1 (2)'!$A$2:$A$4</c:f>
              <c:strCache>
                <c:ptCount val="3"/>
                <c:pt idx="0">
                  <c:v>W010</c:v>
                </c:pt>
                <c:pt idx="1">
                  <c:v>W009</c:v>
                </c:pt>
                <c:pt idx="2">
                  <c:v>W007</c:v>
                </c:pt>
              </c:strCache>
            </c:strRef>
          </c:cat>
          <c:val>
            <c:numRef>
              <c:f>'sql4 1 (2)'!$B$2:$B$4</c:f>
              <c:numCache>
                <c:formatCode>General</c:formatCode>
                <c:ptCount val="3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704-44D1-ACA9-EDEBAE05DC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'sql4 2'!$B$1</c:f>
              <c:strCache>
                <c:ptCount val="1"/>
                <c:pt idx="0">
                  <c:v>Total_Shipments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'sql4 2'!$A$2:$A$11</c:f>
              <c:strCache>
                <c:ptCount val="10"/>
                <c:pt idx="0">
                  <c:v>W010</c:v>
                </c:pt>
                <c:pt idx="1">
                  <c:v>W001</c:v>
                </c:pt>
                <c:pt idx="2">
                  <c:v>W007</c:v>
                </c:pt>
                <c:pt idx="3">
                  <c:v>W005</c:v>
                </c:pt>
                <c:pt idx="4">
                  <c:v>W009</c:v>
                </c:pt>
                <c:pt idx="5">
                  <c:v>W003</c:v>
                </c:pt>
                <c:pt idx="6">
                  <c:v>W004</c:v>
                </c:pt>
                <c:pt idx="7">
                  <c:v>W006</c:v>
                </c:pt>
                <c:pt idx="8">
                  <c:v>W002</c:v>
                </c:pt>
                <c:pt idx="9">
                  <c:v>W008</c:v>
                </c:pt>
              </c:strCache>
            </c:strRef>
          </c:cat>
          <c:val>
            <c:numRef>
              <c:f>'sql4 2'!$B$2:$B$11</c:f>
              <c:numCache>
                <c:formatCode>General</c:formatCode>
                <c:ptCount val="10"/>
                <c:pt idx="0">
                  <c:v>30</c:v>
                </c:pt>
                <c:pt idx="1">
                  <c:v>34</c:v>
                </c:pt>
                <c:pt idx="2">
                  <c:v>38</c:v>
                </c:pt>
                <c:pt idx="3">
                  <c:v>25</c:v>
                </c:pt>
                <c:pt idx="4">
                  <c:v>33</c:v>
                </c:pt>
                <c:pt idx="5">
                  <c:v>23</c:v>
                </c:pt>
                <c:pt idx="6">
                  <c:v>31</c:v>
                </c:pt>
                <c:pt idx="7">
                  <c:v>37</c:v>
                </c:pt>
                <c:pt idx="8">
                  <c:v>28</c:v>
                </c:pt>
                <c:pt idx="9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BD-479F-8366-688A8E39F002}"/>
            </c:ext>
          </c:extLst>
        </c:ser>
        <c:ser>
          <c:idx val="1"/>
          <c:order val="1"/>
          <c:tx>
            <c:strRef>
              <c:f>'sql4 2'!$C$1</c:f>
              <c:strCache>
                <c:ptCount val="1"/>
                <c:pt idx="0">
                  <c:v>Delayed_Shipments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'sql4 2'!$A$2:$A$11</c:f>
              <c:strCache>
                <c:ptCount val="10"/>
                <c:pt idx="0">
                  <c:v>W010</c:v>
                </c:pt>
                <c:pt idx="1">
                  <c:v>W001</c:v>
                </c:pt>
                <c:pt idx="2">
                  <c:v>W007</c:v>
                </c:pt>
                <c:pt idx="3">
                  <c:v>W005</c:v>
                </c:pt>
                <c:pt idx="4">
                  <c:v>W009</c:v>
                </c:pt>
                <c:pt idx="5">
                  <c:v>W003</c:v>
                </c:pt>
                <c:pt idx="6">
                  <c:v>W004</c:v>
                </c:pt>
                <c:pt idx="7">
                  <c:v>W006</c:v>
                </c:pt>
                <c:pt idx="8">
                  <c:v>W002</c:v>
                </c:pt>
                <c:pt idx="9">
                  <c:v>W008</c:v>
                </c:pt>
              </c:strCache>
            </c:strRef>
          </c:cat>
          <c:val>
            <c:numRef>
              <c:f>'sql4 2'!$C$2:$C$11</c:f>
              <c:numCache>
                <c:formatCode>General</c:formatCode>
                <c:ptCount val="10"/>
                <c:pt idx="0">
                  <c:v>20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12</c:v>
                </c:pt>
                <c:pt idx="7">
                  <c:v>12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BD-479F-8366-688A8E39F0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627647"/>
        <c:axId val="61622367"/>
      </c:lineChart>
      <c:catAx>
        <c:axId val="61627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22367"/>
        <c:crosses val="autoZero"/>
        <c:auto val="1"/>
        <c:lblAlgn val="ctr"/>
        <c:lblOffset val="100"/>
        <c:noMultiLvlLbl val="0"/>
      </c:catAx>
      <c:valAx>
        <c:axId val="61622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2764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'sql4 3'!$C$1</c:f>
              <c:strCache>
                <c:ptCount val="1"/>
                <c:pt idx="0">
                  <c:v>Processing_Time_Min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'sql4 3'!$A$2:$B$6</c:f>
              <c:multiLvlStrCache>
                <c:ptCount val="5"/>
                <c:lvl>
                  <c:pt idx="0">
                    <c:v>Davidshire</c:v>
                  </c:pt>
                  <c:pt idx="1">
                    <c:v>New Crystalborough</c:v>
                  </c:pt>
                  <c:pt idx="2">
                    <c:v>Port Juliachester</c:v>
                  </c:pt>
                  <c:pt idx="3">
                    <c:v>Andersontown</c:v>
                  </c:pt>
                  <c:pt idx="4">
                    <c:v>Zacharyland</c:v>
                  </c:pt>
                </c:lvl>
                <c:lvl>
                  <c:pt idx="0">
                    <c:v>W010</c:v>
                  </c:pt>
                  <c:pt idx="1">
                    <c:v>W009</c:v>
                  </c:pt>
                  <c:pt idx="2">
                    <c:v>W007</c:v>
                  </c:pt>
                  <c:pt idx="3">
                    <c:v>W008</c:v>
                  </c:pt>
                  <c:pt idx="4">
                    <c:v>W001</c:v>
                  </c:pt>
                </c:lvl>
              </c:multiLvlStrCache>
            </c:multiLvlStrRef>
          </c:cat>
          <c:val>
            <c:numRef>
              <c:f>'sql4 3'!$C$2:$C$6</c:f>
              <c:numCache>
                <c:formatCode>General</c:formatCode>
                <c:ptCount val="5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  <c:pt idx="3">
                  <c:v>161</c:v>
                </c:pt>
                <c:pt idx="4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1-4DBA-9369-84FB601724CA}"/>
            </c:ext>
          </c:extLst>
        </c:ser>
        <c:ser>
          <c:idx val="1"/>
          <c:order val="1"/>
          <c:tx>
            <c:strRef>
              <c:f>'sql4 3'!$D$1</c:f>
              <c:strCache>
                <c:ptCount val="1"/>
                <c:pt idx="0">
                  <c:v>Global_Avg_Time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'sql4 3'!$A$2:$B$6</c:f>
              <c:multiLvlStrCache>
                <c:ptCount val="5"/>
                <c:lvl>
                  <c:pt idx="0">
                    <c:v>Davidshire</c:v>
                  </c:pt>
                  <c:pt idx="1">
                    <c:v>New Crystalborough</c:v>
                  </c:pt>
                  <c:pt idx="2">
                    <c:v>Port Juliachester</c:v>
                  </c:pt>
                  <c:pt idx="3">
                    <c:v>Andersontown</c:v>
                  </c:pt>
                  <c:pt idx="4">
                    <c:v>Zacharyland</c:v>
                  </c:pt>
                </c:lvl>
                <c:lvl>
                  <c:pt idx="0">
                    <c:v>W010</c:v>
                  </c:pt>
                  <c:pt idx="1">
                    <c:v>W009</c:v>
                  </c:pt>
                  <c:pt idx="2">
                    <c:v>W007</c:v>
                  </c:pt>
                  <c:pt idx="3">
                    <c:v>W008</c:v>
                  </c:pt>
                  <c:pt idx="4">
                    <c:v>W001</c:v>
                  </c:pt>
                </c:lvl>
              </c:multiLvlStrCache>
            </c:multiLvlStrRef>
          </c:cat>
          <c:val>
            <c:numRef>
              <c:f>'sql4 3'!$D$2:$D$6</c:f>
              <c:numCache>
                <c:formatCode>General</c:formatCode>
                <c:ptCount val="5"/>
                <c:pt idx="0">
                  <c:v>110.1</c:v>
                </c:pt>
                <c:pt idx="1">
                  <c:v>110.1</c:v>
                </c:pt>
                <c:pt idx="2">
                  <c:v>110.1</c:v>
                </c:pt>
                <c:pt idx="3">
                  <c:v>110.1</c:v>
                </c:pt>
                <c:pt idx="4">
                  <c:v>110.1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1-4DBA-9369-84FB601724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458399"/>
        <c:axId val="64459839"/>
      </c:barChart>
      <c:catAx>
        <c:axId val="6445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459839"/>
        <c:crosses val="autoZero"/>
        <c:auto val="1"/>
        <c:lblAlgn val="ctr"/>
        <c:lblOffset val="100"/>
        <c:noMultiLvlLbl val="0"/>
      </c:catAx>
      <c:valAx>
        <c:axId val="64459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458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'sql4 4'!$B$1</c:f>
              <c:strCache>
                <c:ptCount val="1"/>
                <c:pt idx="0">
                  <c:v>On_Time_Percentage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'sql4 4'!$A$2:$A$11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'sql4 4'!$B$2:$B$11</c:f>
              <c:numCache>
                <c:formatCode>General</c:formatCode>
                <c:ptCount val="10"/>
                <c:pt idx="0">
                  <c:v>76.19047619047619</c:v>
                </c:pt>
                <c:pt idx="1">
                  <c:v>67.567567567567565</c:v>
                </c:pt>
                <c:pt idx="2">
                  <c:v>64.285714285714292</c:v>
                </c:pt>
                <c:pt idx="3">
                  <c:v>61.29032258064516</c:v>
                </c:pt>
                <c:pt idx="4">
                  <c:v>60.606060606060609</c:v>
                </c:pt>
                <c:pt idx="5">
                  <c:v>60.526315789473685</c:v>
                </c:pt>
                <c:pt idx="6">
                  <c:v>47.058823529411768</c:v>
                </c:pt>
                <c:pt idx="7">
                  <c:v>44</c:v>
                </c:pt>
                <c:pt idx="8">
                  <c:v>43.478260869565219</c:v>
                </c:pt>
                <c:pt idx="9">
                  <c:v>33.333333333333336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9-4E44-AB00-FF3D1FB87A70}"/>
            </c:ext>
          </c:extLst>
        </c:ser>
        <c:ser>
          <c:idx val="1"/>
          <c:order val="1"/>
          <c:tx>
            <c:strRef>
              <c:f>'sql4 4'!$C$1</c:f>
              <c:strCache>
                <c:ptCount val="1"/>
                <c:pt idx="0">
                  <c:v>On_Time_Rank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'sql4 4'!$A$2:$A$11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'sql4 4'!$C$2:$C$11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9-4E44-AB00-FF3D1FB87A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623807"/>
        <c:axId val="61618047"/>
      </c:barChart>
      <c:catAx>
        <c:axId val="6162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18047"/>
        <c:crosses val="autoZero"/>
        <c:auto val="1"/>
        <c:lblAlgn val="ctr"/>
        <c:lblOffset val="100"/>
        <c:noMultiLvlLbl val="0"/>
      </c:catAx>
      <c:valAx>
        <c:axId val="6161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23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'sql5 1'!$C$1</c:f>
              <c:strCache>
                <c:ptCount val="1"/>
                <c:pt idx="0">
                  <c:v>On_Time_Percentage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'sql5 1'!$A$2:$A$51</c:f>
              <c:strCache>
                <c:ptCount val="50"/>
                <c:pt idx="0">
                  <c:v>A006</c:v>
                </c:pt>
                <c:pt idx="1">
                  <c:v>A037</c:v>
                </c:pt>
                <c:pt idx="2">
                  <c:v>A033</c:v>
                </c:pt>
                <c:pt idx="3">
                  <c:v>A024</c:v>
                </c:pt>
                <c:pt idx="4">
                  <c:v>A027</c:v>
                </c:pt>
                <c:pt idx="5">
                  <c:v>A050</c:v>
                </c:pt>
                <c:pt idx="6">
                  <c:v>A011</c:v>
                </c:pt>
                <c:pt idx="7">
                  <c:v>A015</c:v>
                </c:pt>
                <c:pt idx="8">
                  <c:v>A029</c:v>
                </c:pt>
                <c:pt idx="9">
                  <c:v>A035</c:v>
                </c:pt>
                <c:pt idx="10">
                  <c:v>A041</c:v>
                </c:pt>
                <c:pt idx="11">
                  <c:v>A047</c:v>
                </c:pt>
                <c:pt idx="12">
                  <c:v>A020</c:v>
                </c:pt>
                <c:pt idx="13">
                  <c:v>A014</c:v>
                </c:pt>
                <c:pt idx="14">
                  <c:v>A049</c:v>
                </c:pt>
                <c:pt idx="15">
                  <c:v>A040</c:v>
                </c:pt>
                <c:pt idx="16">
                  <c:v>A028</c:v>
                </c:pt>
                <c:pt idx="17">
                  <c:v>A018</c:v>
                </c:pt>
                <c:pt idx="18">
                  <c:v>A032</c:v>
                </c:pt>
                <c:pt idx="19">
                  <c:v>A022</c:v>
                </c:pt>
                <c:pt idx="20">
                  <c:v>A034</c:v>
                </c:pt>
                <c:pt idx="21">
                  <c:v>A045</c:v>
                </c:pt>
                <c:pt idx="22">
                  <c:v>A042</c:v>
                </c:pt>
                <c:pt idx="23">
                  <c:v>A012</c:v>
                </c:pt>
                <c:pt idx="24">
                  <c:v>A009</c:v>
                </c:pt>
                <c:pt idx="25">
                  <c:v>A002</c:v>
                </c:pt>
                <c:pt idx="26">
                  <c:v>A016</c:v>
                </c:pt>
                <c:pt idx="27">
                  <c:v>A048</c:v>
                </c:pt>
                <c:pt idx="28">
                  <c:v>A026</c:v>
                </c:pt>
                <c:pt idx="29">
                  <c:v>A030</c:v>
                </c:pt>
                <c:pt idx="30">
                  <c:v>A003</c:v>
                </c:pt>
                <c:pt idx="31">
                  <c:v>A025</c:v>
                </c:pt>
                <c:pt idx="32">
                  <c:v>A005</c:v>
                </c:pt>
                <c:pt idx="33">
                  <c:v>A001</c:v>
                </c:pt>
                <c:pt idx="34">
                  <c:v>A043</c:v>
                </c:pt>
                <c:pt idx="35">
                  <c:v>A039</c:v>
                </c:pt>
                <c:pt idx="36">
                  <c:v>A044</c:v>
                </c:pt>
                <c:pt idx="37">
                  <c:v>A013</c:v>
                </c:pt>
                <c:pt idx="38">
                  <c:v>A021</c:v>
                </c:pt>
                <c:pt idx="39">
                  <c:v>A023</c:v>
                </c:pt>
                <c:pt idx="40">
                  <c:v>A007</c:v>
                </c:pt>
                <c:pt idx="41">
                  <c:v>A017</c:v>
                </c:pt>
                <c:pt idx="42">
                  <c:v>A019</c:v>
                </c:pt>
                <c:pt idx="43">
                  <c:v>A031</c:v>
                </c:pt>
                <c:pt idx="44">
                  <c:v>A008</c:v>
                </c:pt>
                <c:pt idx="45">
                  <c:v>A038</c:v>
                </c:pt>
                <c:pt idx="46">
                  <c:v>A004</c:v>
                </c:pt>
                <c:pt idx="47">
                  <c:v>A010</c:v>
                </c:pt>
                <c:pt idx="48">
                  <c:v>A036</c:v>
                </c:pt>
                <c:pt idx="49">
                  <c:v>A046</c:v>
                </c:pt>
              </c:strCache>
              <c:extLst/>
            </c:strRef>
          </c:cat>
          <c:val>
            <c:numRef>
              <c:f>'sql5 1'!$C$2:$C$51</c:f>
              <c:numCache>
                <c:formatCode>General</c:formatCode>
                <c:ptCount val="50"/>
                <c:pt idx="0">
                  <c:v>81.56</c:v>
                </c:pt>
                <c:pt idx="1">
                  <c:v>78.94</c:v>
                </c:pt>
                <c:pt idx="2">
                  <c:v>98.01</c:v>
                </c:pt>
                <c:pt idx="3">
                  <c:v>97.16</c:v>
                </c:pt>
                <c:pt idx="4">
                  <c:v>73.8</c:v>
                </c:pt>
                <c:pt idx="5">
                  <c:v>72.75</c:v>
                </c:pt>
                <c:pt idx="6">
                  <c:v>71.5</c:v>
                </c:pt>
                <c:pt idx="7">
                  <c:v>83.31</c:v>
                </c:pt>
                <c:pt idx="8">
                  <c:v>81.709999999999994</c:v>
                </c:pt>
                <c:pt idx="9">
                  <c:v>74.5</c:v>
                </c:pt>
                <c:pt idx="10">
                  <c:v>91.47</c:v>
                </c:pt>
                <c:pt idx="11">
                  <c:v>84.62</c:v>
                </c:pt>
                <c:pt idx="12">
                  <c:v>77.650000000000006</c:v>
                </c:pt>
                <c:pt idx="13">
                  <c:v>99.9</c:v>
                </c:pt>
                <c:pt idx="14">
                  <c:v>99.82</c:v>
                </c:pt>
                <c:pt idx="15">
                  <c:v>77.83</c:v>
                </c:pt>
                <c:pt idx="16">
                  <c:v>74.47</c:v>
                </c:pt>
                <c:pt idx="17">
                  <c:v>73.209999999999994</c:v>
                </c:pt>
                <c:pt idx="18">
                  <c:v>99.32</c:v>
                </c:pt>
                <c:pt idx="19">
                  <c:v>87.72</c:v>
                </c:pt>
                <c:pt idx="20">
                  <c:v>81.67</c:v>
                </c:pt>
                <c:pt idx="21">
                  <c:v>95.08</c:v>
                </c:pt>
                <c:pt idx="22">
                  <c:v>93.37</c:v>
                </c:pt>
                <c:pt idx="23">
                  <c:v>80.849999999999994</c:v>
                </c:pt>
                <c:pt idx="24">
                  <c:v>92.27</c:v>
                </c:pt>
                <c:pt idx="25">
                  <c:v>90.8</c:v>
                </c:pt>
                <c:pt idx="26">
                  <c:v>78.39</c:v>
                </c:pt>
                <c:pt idx="27">
                  <c:v>77.92</c:v>
                </c:pt>
                <c:pt idx="28">
                  <c:v>84.01</c:v>
                </c:pt>
                <c:pt idx="29">
                  <c:v>76.599999999999994</c:v>
                </c:pt>
                <c:pt idx="30">
                  <c:v>74.150000000000006</c:v>
                </c:pt>
                <c:pt idx="31">
                  <c:v>93.94</c:v>
                </c:pt>
                <c:pt idx="32">
                  <c:v>90.04</c:v>
                </c:pt>
                <c:pt idx="33">
                  <c:v>82.01</c:v>
                </c:pt>
                <c:pt idx="34">
                  <c:v>79.510000000000005</c:v>
                </c:pt>
                <c:pt idx="35">
                  <c:v>72.599999999999994</c:v>
                </c:pt>
                <c:pt idx="36">
                  <c:v>92.15</c:v>
                </c:pt>
                <c:pt idx="37">
                  <c:v>92.06</c:v>
                </c:pt>
                <c:pt idx="38">
                  <c:v>82.19</c:v>
                </c:pt>
                <c:pt idx="39">
                  <c:v>74.209999999999994</c:v>
                </c:pt>
                <c:pt idx="40">
                  <c:v>99.11</c:v>
                </c:pt>
                <c:pt idx="41">
                  <c:v>97.9</c:v>
                </c:pt>
                <c:pt idx="42">
                  <c:v>97.7</c:v>
                </c:pt>
                <c:pt idx="43">
                  <c:v>97.29</c:v>
                </c:pt>
                <c:pt idx="44">
                  <c:v>72.39</c:v>
                </c:pt>
                <c:pt idx="45">
                  <c:v>71.8</c:v>
                </c:pt>
                <c:pt idx="46">
                  <c:v>98.25</c:v>
                </c:pt>
                <c:pt idx="47">
                  <c:v>70.45</c:v>
                </c:pt>
                <c:pt idx="48">
                  <c:v>87.21</c:v>
                </c:pt>
                <c:pt idx="49">
                  <c:v>75.459999999999994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A-449C-9E39-F551227FD7D7}"/>
            </c:ext>
          </c:extLst>
        </c:ser>
        <c:ser>
          <c:idx val="1"/>
          <c:order val="1"/>
          <c:tx>
            <c:strRef>
              <c:f>'sql5 1'!$D$1</c:f>
              <c:strCache>
                <c:ptCount val="1"/>
                <c:pt idx="0">
                  <c:v>Route_On_Time_Rank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'sql5 1'!$A$2:$A$51</c:f>
              <c:strCache>
                <c:ptCount val="50"/>
                <c:pt idx="0">
                  <c:v>A006</c:v>
                </c:pt>
                <c:pt idx="1">
                  <c:v>A037</c:v>
                </c:pt>
                <c:pt idx="2">
                  <c:v>A033</c:v>
                </c:pt>
                <c:pt idx="3">
                  <c:v>A024</c:v>
                </c:pt>
                <c:pt idx="4">
                  <c:v>A027</c:v>
                </c:pt>
                <c:pt idx="5">
                  <c:v>A050</c:v>
                </c:pt>
                <c:pt idx="6">
                  <c:v>A011</c:v>
                </c:pt>
                <c:pt idx="7">
                  <c:v>A015</c:v>
                </c:pt>
                <c:pt idx="8">
                  <c:v>A029</c:v>
                </c:pt>
                <c:pt idx="9">
                  <c:v>A035</c:v>
                </c:pt>
                <c:pt idx="10">
                  <c:v>A041</c:v>
                </c:pt>
                <c:pt idx="11">
                  <c:v>A047</c:v>
                </c:pt>
                <c:pt idx="12">
                  <c:v>A020</c:v>
                </c:pt>
                <c:pt idx="13">
                  <c:v>A014</c:v>
                </c:pt>
                <c:pt idx="14">
                  <c:v>A049</c:v>
                </c:pt>
                <c:pt idx="15">
                  <c:v>A040</c:v>
                </c:pt>
                <c:pt idx="16">
                  <c:v>A028</c:v>
                </c:pt>
                <c:pt idx="17">
                  <c:v>A018</c:v>
                </c:pt>
                <c:pt idx="18">
                  <c:v>A032</c:v>
                </c:pt>
                <c:pt idx="19">
                  <c:v>A022</c:v>
                </c:pt>
                <c:pt idx="20">
                  <c:v>A034</c:v>
                </c:pt>
                <c:pt idx="21">
                  <c:v>A045</c:v>
                </c:pt>
                <c:pt idx="22">
                  <c:v>A042</c:v>
                </c:pt>
                <c:pt idx="23">
                  <c:v>A012</c:v>
                </c:pt>
                <c:pt idx="24">
                  <c:v>A009</c:v>
                </c:pt>
                <c:pt idx="25">
                  <c:v>A002</c:v>
                </c:pt>
                <c:pt idx="26">
                  <c:v>A016</c:v>
                </c:pt>
                <c:pt idx="27">
                  <c:v>A048</c:v>
                </c:pt>
                <c:pt idx="28">
                  <c:v>A026</c:v>
                </c:pt>
                <c:pt idx="29">
                  <c:v>A030</c:v>
                </c:pt>
                <c:pt idx="30">
                  <c:v>A003</c:v>
                </c:pt>
                <c:pt idx="31">
                  <c:v>A025</c:v>
                </c:pt>
                <c:pt idx="32">
                  <c:v>A005</c:v>
                </c:pt>
                <c:pt idx="33">
                  <c:v>A001</c:v>
                </c:pt>
                <c:pt idx="34">
                  <c:v>A043</c:v>
                </c:pt>
                <c:pt idx="35">
                  <c:v>A039</c:v>
                </c:pt>
                <c:pt idx="36">
                  <c:v>A044</c:v>
                </c:pt>
                <c:pt idx="37">
                  <c:v>A013</c:v>
                </c:pt>
                <c:pt idx="38">
                  <c:v>A021</c:v>
                </c:pt>
                <c:pt idx="39">
                  <c:v>A023</c:v>
                </c:pt>
                <c:pt idx="40">
                  <c:v>A007</c:v>
                </c:pt>
                <c:pt idx="41">
                  <c:v>A017</c:v>
                </c:pt>
                <c:pt idx="42">
                  <c:v>A019</c:v>
                </c:pt>
                <c:pt idx="43">
                  <c:v>A031</c:v>
                </c:pt>
                <c:pt idx="44">
                  <c:v>A008</c:v>
                </c:pt>
                <c:pt idx="45">
                  <c:v>A038</c:v>
                </c:pt>
                <c:pt idx="46">
                  <c:v>A004</c:v>
                </c:pt>
                <c:pt idx="47">
                  <c:v>A010</c:v>
                </c:pt>
                <c:pt idx="48">
                  <c:v>A036</c:v>
                </c:pt>
                <c:pt idx="49">
                  <c:v>A046</c:v>
                </c:pt>
              </c:strCache>
              <c:extLst/>
            </c:strRef>
          </c:cat>
          <c:val>
            <c:numRef>
              <c:f>'sql5 1'!$D$2:$D$51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2</c:v>
                </c:pt>
                <c:pt idx="24">
                  <c:v>1</c:v>
                </c:pt>
                <c:pt idx="25">
                  <c:v>2</c:v>
                </c:pt>
                <c:pt idx="26">
                  <c:v>3</c:v>
                </c:pt>
                <c:pt idx="27">
                  <c:v>4</c:v>
                </c:pt>
                <c:pt idx="28">
                  <c:v>1</c:v>
                </c:pt>
                <c:pt idx="29">
                  <c:v>1</c:v>
                </c:pt>
                <c:pt idx="30">
                  <c:v>2</c:v>
                </c:pt>
                <c:pt idx="31">
                  <c:v>1</c:v>
                </c:pt>
                <c:pt idx="32">
                  <c:v>1</c:v>
                </c:pt>
                <c:pt idx="33">
                  <c:v>2</c:v>
                </c:pt>
                <c:pt idx="34">
                  <c:v>3</c:v>
                </c:pt>
                <c:pt idx="35">
                  <c:v>4</c:v>
                </c:pt>
                <c:pt idx="36">
                  <c:v>1</c:v>
                </c:pt>
                <c:pt idx="37">
                  <c:v>2</c:v>
                </c:pt>
                <c:pt idx="38">
                  <c:v>3</c:v>
                </c:pt>
                <c:pt idx="39">
                  <c:v>4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1</c:v>
                </c:pt>
                <c:pt idx="47">
                  <c:v>2</c:v>
                </c:pt>
                <c:pt idx="48">
                  <c:v>1</c:v>
                </c:pt>
                <c:pt idx="4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5A-449C-9E39-F551227FD7D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84853872"/>
        <c:axId val="684867312"/>
      </c:barChart>
      <c:catAx>
        <c:axId val="68485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867312"/>
        <c:crosses val="autoZero"/>
        <c:auto val="1"/>
        <c:lblAlgn val="ctr"/>
        <c:lblOffset val="100"/>
        <c:noMultiLvlLbl val="0"/>
      </c:catAx>
      <c:valAx>
        <c:axId val="684867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853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'sql5 2'!$C$1</c:f>
              <c:strCache>
                <c:ptCount val="1"/>
                <c:pt idx="0">
                  <c:v>On_Time_Percentage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0430-42CB-98F2-64C81B297E0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0430-42CB-98F2-64C81B297E0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0430-42CB-98F2-64C81B297E0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0430-42CB-98F2-64C81B297E0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0430-42CB-98F2-64C81B297E0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B-0430-42CB-98F2-64C81B297E0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D-0430-42CB-98F2-64C81B297E01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F-0430-42CB-98F2-64C81B297E01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1-0430-42CB-98F2-64C81B297E01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3-0430-42CB-98F2-64C81B297E01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5-0430-42CB-98F2-64C81B297E01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7-0430-42CB-98F2-64C81B297E01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9-0430-42CB-98F2-64C81B297E01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B-0430-42CB-98F2-64C81B297E01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D-0430-42CB-98F2-64C81B297E01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F-0430-42CB-98F2-64C81B297E01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1-0430-42CB-98F2-64C81B297E01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3-0430-42CB-98F2-64C81B297E01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5-0430-42CB-98F2-64C81B297E01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7-0430-42CB-98F2-64C81B297E0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0430-42CB-98F2-64C81B297E0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0430-42CB-98F2-64C81B297E0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0430-42CB-98F2-64C81B297E0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0430-42CB-98F2-64C81B297E01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0430-42CB-98F2-64C81B297E01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B-0430-42CB-98F2-64C81B297E01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D-0430-42CB-98F2-64C81B297E01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F-0430-42CB-98F2-64C81B297E01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1-0430-42CB-98F2-64C81B297E01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3-0430-42CB-98F2-64C81B297E01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5-0430-42CB-98F2-64C81B297E01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7-0430-42CB-98F2-64C81B297E01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9-0430-42CB-98F2-64C81B297E01}"/>
                </c:ext>
              </c:extLst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B-0430-42CB-98F2-64C81B297E01}"/>
                </c:ext>
              </c:extLst>
            </c:dLbl>
            <c:dLbl>
              <c:idx val="1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D-0430-42CB-98F2-64C81B297E01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F-0430-42CB-98F2-64C81B297E01}"/>
                </c:ext>
              </c:extLst>
            </c:dLbl>
            <c:dLbl>
              <c:idx val="1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1-0430-42CB-98F2-64C81B297E01}"/>
                </c:ext>
              </c:extLst>
            </c:dLbl>
            <c:dLbl>
              <c:idx val="1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3-0430-42CB-98F2-64C81B297E01}"/>
                </c:ext>
              </c:extLst>
            </c:dLbl>
            <c:dLbl>
              <c:idx val="1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5-0430-42CB-98F2-64C81B297E01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>
                          <a:lumMod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7-0430-42CB-98F2-64C81B297E01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'sql5 2'!$A$2:$B$21</c:f>
              <c:multiLvlStrCache>
                <c:ptCount val="20"/>
                <c:lvl>
                  <c:pt idx="0">
                    <c:v>R019</c:v>
                  </c:pt>
                  <c:pt idx="1">
                    <c:v>R002</c:v>
                  </c:pt>
                  <c:pt idx="2">
                    <c:v>R018</c:v>
                  </c:pt>
                  <c:pt idx="3">
                    <c:v>R018</c:v>
                  </c:pt>
                  <c:pt idx="4">
                    <c:v>R016</c:v>
                  </c:pt>
                  <c:pt idx="5">
                    <c:v>R002</c:v>
                  </c:pt>
                  <c:pt idx="6">
                    <c:v>R007</c:v>
                  </c:pt>
                  <c:pt idx="7">
                    <c:v>R002</c:v>
                  </c:pt>
                  <c:pt idx="8">
                    <c:v>R014</c:v>
                  </c:pt>
                  <c:pt idx="9">
                    <c:v>R017</c:v>
                  </c:pt>
                  <c:pt idx="10">
                    <c:v>R007</c:v>
                  </c:pt>
                  <c:pt idx="11">
                    <c:v>R005</c:v>
                  </c:pt>
                  <c:pt idx="12">
                    <c:v>R020</c:v>
                  </c:pt>
                  <c:pt idx="13">
                    <c:v>R014</c:v>
                  </c:pt>
                  <c:pt idx="14">
                    <c:v>R006</c:v>
                  </c:pt>
                  <c:pt idx="15">
                    <c:v>R007</c:v>
                  </c:pt>
                  <c:pt idx="16">
                    <c:v>R012</c:v>
                  </c:pt>
                  <c:pt idx="17">
                    <c:v>R012</c:v>
                  </c:pt>
                  <c:pt idx="18">
                    <c:v>R001</c:v>
                  </c:pt>
                  <c:pt idx="19">
                    <c:v>R016</c:v>
                  </c:pt>
                </c:lvl>
                <c:lvl>
                  <c:pt idx="0">
                    <c:v>A010</c:v>
                  </c:pt>
                  <c:pt idx="1">
                    <c:v>A011</c:v>
                  </c:pt>
                  <c:pt idx="2">
                    <c:v>A038</c:v>
                  </c:pt>
                  <c:pt idx="3">
                    <c:v>A008</c:v>
                  </c:pt>
                  <c:pt idx="4">
                    <c:v>A039</c:v>
                  </c:pt>
                  <c:pt idx="5">
                    <c:v>A050</c:v>
                  </c:pt>
                  <c:pt idx="6">
                    <c:v>A018</c:v>
                  </c:pt>
                  <c:pt idx="7">
                    <c:v>A027</c:v>
                  </c:pt>
                  <c:pt idx="8">
                    <c:v>A003</c:v>
                  </c:pt>
                  <c:pt idx="9">
                    <c:v>A023</c:v>
                  </c:pt>
                  <c:pt idx="10">
                    <c:v>A028</c:v>
                  </c:pt>
                  <c:pt idx="11">
                    <c:v>A035</c:v>
                  </c:pt>
                  <c:pt idx="12">
                    <c:v>A046</c:v>
                  </c:pt>
                  <c:pt idx="13">
                    <c:v>A030</c:v>
                  </c:pt>
                  <c:pt idx="14">
                    <c:v>A020</c:v>
                  </c:pt>
                  <c:pt idx="15">
                    <c:v>A040</c:v>
                  </c:pt>
                  <c:pt idx="16">
                    <c:v>A048</c:v>
                  </c:pt>
                  <c:pt idx="17">
                    <c:v>A016</c:v>
                  </c:pt>
                  <c:pt idx="18">
                    <c:v>A037</c:v>
                  </c:pt>
                  <c:pt idx="19">
                    <c:v>A043</c:v>
                  </c:pt>
                </c:lvl>
              </c:multiLvlStrCache>
            </c:multiLvlStrRef>
          </c:cat>
          <c:val>
            <c:numRef>
              <c:f>'sql5 2'!$C$2:$C$21</c:f>
              <c:numCache>
                <c:formatCode>General</c:formatCode>
                <c:ptCount val="20"/>
                <c:pt idx="0">
                  <c:v>70.45</c:v>
                </c:pt>
                <c:pt idx="1">
                  <c:v>71.5</c:v>
                </c:pt>
                <c:pt idx="2">
                  <c:v>71.8</c:v>
                </c:pt>
                <c:pt idx="3">
                  <c:v>72.39</c:v>
                </c:pt>
                <c:pt idx="4">
                  <c:v>72.599999999999994</c:v>
                </c:pt>
                <c:pt idx="5">
                  <c:v>72.75</c:v>
                </c:pt>
                <c:pt idx="6">
                  <c:v>73.209999999999994</c:v>
                </c:pt>
                <c:pt idx="7">
                  <c:v>73.8</c:v>
                </c:pt>
                <c:pt idx="8">
                  <c:v>74.150000000000006</c:v>
                </c:pt>
                <c:pt idx="9">
                  <c:v>74.209999999999994</c:v>
                </c:pt>
                <c:pt idx="10">
                  <c:v>74.47</c:v>
                </c:pt>
                <c:pt idx="11">
                  <c:v>74.5</c:v>
                </c:pt>
                <c:pt idx="12">
                  <c:v>75.459999999999994</c:v>
                </c:pt>
                <c:pt idx="13">
                  <c:v>76.599999999999994</c:v>
                </c:pt>
                <c:pt idx="14">
                  <c:v>77.650000000000006</c:v>
                </c:pt>
                <c:pt idx="15">
                  <c:v>77.83</c:v>
                </c:pt>
                <c:pt idx="16">
                  <c:v>77.92</c:v>
                </c:pt>
                <c:pt idx="17">
                  <c:v>78.39</c:v>
                </c:pt>
                <c:pt idx="18">
                  <c:v>78.94</c:v>
                </c:pt>
                <c:pt idx="19">
                  <c:v>79.510000000000005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0430-42CB-98F2-64C81B297E01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'sql5 3'!$B$1</c:f>
              <c:strCache>
                <c:ptCount val="1"/>
                <c:pt idx="0">
                  <c:v>Average_Speed_KM_HR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8DF-4C21-9B6E-1B4303A3EF8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8DF-4C21-9B6E-1B4303A3EF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'sql5 3'!$A$2:$A$3</c:f>
              <c:strCache>
                <c:ptCount val="2"/>
                <c:pt idx="0">
                  <c:v>Top 5 Agents</c:v>
                </c:pt>
                <c:pt idx="1">
                  <c:v>Bottom 5 Agents</c:v>
                </c:pt>
              </c:strCache>
            </c:strRef>
          </c:cat>
          <c:val>
            <c:numRef>
              <c:f>'sql5 3'!$B$2:$B$3</c:f>
              <c:numCache>
                <c:formatCode>General</c:formatCode>
                <c:ptCount val="2"/>
                <c:pt idx="0">
                  <c:v>60</c:v>
                </c:pt>
                <c:pt idx="1">
                  <c:v>56.8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DF-4C21-9B6E-1B4303A3EF8E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[Book1]Sheet3!PivotTable18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Count of Order_ID by Checkpoint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Sheet3!$A$4:$A$8</c:f>
              <c:strCache>
                <c:ptCount val="5"/>
                <c:pt idx="0">
                  <c:v>Checkpoint 1</c:v>
                </c:pt>
                <c:pt idx="1">
                  <c:v>Checkpoint 2</c:v>
                </c:pt>
                <c:pt idx="2">
                  <c:v>Checkpoint 3</c:v>
                </c:pt>
                <c:pt idx="3">
                  <c:v>Checkpoint 4</c:v>
                </c:pt>
                <c:pt idx="4">
                  <c:v>Checkpoint 5</c:v>
                </c:pt>
              </c:strCache>
            </c:strRef>
          </c:cat>
          <c:val>
            <c:numRef>
              <c:f>Sheet3!$B$4:$B$8</c:f>
              <c:numCache>
                <c:formatCode>General</c:formatCode>
                <c:ptCount val="5"/>
                <c:pt idx="0">
                  <c:v>61</c:v>
                </c:pt>
                <c:pt idx="1">
                  <c:v>170</c:v>
                </c:pt>
                <c:pt idx="2">
                  <c:v>185</c:v>
                </c:pt>
                <c:pt idx="3">
                  <c:v>127</c:v>
                </c:pt>
                <c:pt idx="4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47-4FBD-8B21-F6FCD785B3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84856272"/>
        <c:axId val="684873072"/>
      </c:barChart>
      <c:catAx>
        <c:axId val="68485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873072"/>
        <c:crosses val="autoZero"/>
        <c:auto val="1"/>
        <c:lblAlgn val="ctr"/>
        <c:lblOffset val="100"/>
        <c:noMultiLvlLbl val="0"/>
      </c:catAx>
      <c:valAx>
        <c:axId val="684873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856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'sql6 2'!$B$1</c:f>
              <c:strCache>
                <c:ptCount val="1"/>
                <c:pt idx="0">
                  <c:v>Delay_Count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6A-4A2B-A39D-9E128062C37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6A-4A2B-A39D-9E128062C37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B6A-4A2B-A39D-9E128062C3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'sql6 2'!$A$2:$A$4</c:f>
              <c:strCache>
                <c:ptCount val="3"/>
                <c:pt idx="0">
                  <c:v>Sorting Delay</c:v>
                </c:pt>
                <c:pt idx="1">
                  <c:v>Weather</c:v>
                </c:pt>
                <c:pt idx="2">
                  <c:v>Traffic</c:v>
                </c:pt>
              </c:strCache>
            </c:strRef>
          </c:cat>
          <c:val>
            <c:numRef>
              <c:f>'sql6 2'!$B$2:$B$4</c:f>
              <c:numCache>
                <c:formatCode>General</c:formatCode>
                <c:ptCount val="3"/>
                <c:pt idx="0">
                  <c:v>272</c:v>
                </c:pt>
                <c:pt idx="1">
                  <c:v>263</c:v>
                </c:pt>
                <c:pt idx="2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6A-4A2B-A39D-9E128062C37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'sql6 3'!$B$1</c:f>
              <c:strCache>
                <c:ptCount val="1"/>
                <c:pt idx="0">
                  <c:v>Delayed_Checkpoint_Count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'sql6 3'!$A$2:$A$152</c:f>
              <c:strCache>
                <c:ptCount val="151"/>
                <c:pt idx="0">
                  <c:v>O0016</c:v>
                </c:pt>
                <c:pt idx="1">
                  <c:v>O0019</c:v>
                </c:pt>
                <c:pt idx="2">
                  <c:v>O0038</c:v>
                </c:pt>
                <c:pt idx="3">
                  <c:v>O0070</c:v>
                </c:pt>
                <c:pt idx="4">
                  <c:v>O0105</c:v>
                </c:pt>
                <c:pt idx="5">
                  <c:v>O0115</c:v>
                </c:pt>
                <c:pt idx="6">
                  <c:v>O0170</c:v>
                </c:pt>
                <c:pt idx="7">
                  <c:v>O0203</c:v>
                </c:pt>
                <c:pt idx="8">
                  <c:v>O0224</c:v>
                </c:pt>
                <c:pt idx="9">
                  <c:v>O0269</c:v>
                </c:pt>
                <c:pt idx="10">
                  <c:v>O0290</c:v>
                </c:pt>
                <c:pt idx="11">
                  <c:v>O0293</c:v>
                </c:pt>
                <c:pt idx="12">
                  <c:v>O0294</c:v>
                </c:pt>
                <c:pt idx="13">
                  <c:v>O0003</c:v>
                </c:pt>
                <c:pt idx="14">
                  <c:v>O0004</c:v>
                </c:pt>
                <c:pt idx="15">
                  <c:v>O0005</c:v>
                </c:pt>
                <c:pt idx="16">
                  <c:v>O0015</c:v>
                </c:pt>
                <c:pt idx="17">
                  <c:v>O0021</c:v>
                </c:pt>
                <c:pt idx="18">
                  <c:v>O0024</c:v>
                </c:pt>
                <c:pt idx="19">
                  <c:v>O0041</c:v>
                </c:pt>
                <c:pt idx="20">
                  <c:v>O0048</c:v>
                </c:pt>
                <c:pt idx="21">
                  <c:v>O0053</c:v>
                </c:pt>
                <c:pt idx="22">
                  <c:v>O0055</c:v>
                </c:pt>
                <c:pt idx="23">
                  <c:v>O0064</c:v>
                </c:pt>
                <c:pt idx="24">
                  <c:v>O0065</c:v>
                </c:pt>
                <c:pt idx="25">
                  <c:v>O0066</c:v>
                </c:pt>
                <c:pt idx="26">
                  <c:v>O0069</c:v>
                </c:pt>
                <c:pt idx="27">
                  <c:v>O0075</c:v>
                </c:pt>
                <c:pt idx="28">
                  <c:v>O0092</c:v>
                </c:pt>
                <c:pt idx="29">
                  <c:v>O0098</c:v>
                </c:pt>
                <c:pt idx="30">
                  <c:v>O0099</c:v>
                </c:pt>
                <c:pt idx="31">
                  <c:v>O0100</c:v>
                </c:pt>
                <c:pt idx="32">
                  <c:v>O0119</c:v>
                </c:pt>
                <c:pt idx="33">
                  <c:v>O0125</c:v>
                </c:pt>
                <c:pt idx="34">
                  <c:v>O0132</c:v>
                </c:pt>
                <c:pt idx="35">
                  <c:v>O0135</c:v>
                </c:pt>
                <c:pt idx="36">
                  <c:v>O0136</c:v>
                </c:pt>
                <c:pt idx="37">
                  <c:v>O0142</c:v>
                </c:pt>
                <c:pt idx="38">
                  <c:v>O0143</c:v>
                </c:pt>
                <c:pt idx="39">
                  <c:v>O0144</c:v>
                </c:pt>
                <c:pt idx="40">
                  <c:v>O0147</c:v>
                </c:pt>
                <c:pt idx="41">
                  <c:v>O0155</c:v>
                </c:pt>
                <c:pt idx="42">
                  <c:v>O0156</c:v>
                </c:pt>
                <c:pt idx="43">
                  <c:v>O0158</c:v>
                </c:pt>
                <c:pt idx="44">
                  <c:v>O0160</c:v>
                </c:pt>
                <c:pt idx="45">
                  <c:v>O0166</c:v>
                </c:pt>
                <c:pt idx="46">
                  <c:v>O0173</c:v>
                </c:pt>
                <c:pt idx="47">
                  <c:v>O0178</c:v>
                </c:pt>
                <c:pt idx="48">
                  <c:v>O0183</c:v>
                </c:pt>
                <c:pt idx="49">
                  <c:v>O0184</c:v>
                </c:pt>
                <c:pt idx="50">
                  <c:v>O0186</c:v>
                </c:pt>
                <c:pt idx="51">
                  <c:v>O0195</c:v>
                </c:pt>
                <c:pt idx="52">
                  <c:v>O0196</c:v>
                </c:pt>
                <c:pt idx="53">
                  <c:v>O0206</c:v>
                </c:pt>
                <c:pt idx="54">
                  <c:v>O0210</c:v>
                </c:pt>
                <c:pt idx="55">
                  <c:v>O0212</c:v>
                </c:pt>
                <c:pt idx="56">
                  <c:v>O0221</c:v>
                </c:pt>
                <c:pt idx="57">
                  <c:v>O0230</c:v>
                </c:pt>
                <c:pt idx="58">
                  <c:v>O0241</c:v>
                </c:pt>
                <c:pt idx="59">
                  <c:v>O0242</c:v>
                </c:pt>
                <c:pt idx="60">
                  <c:v>O0247</c:v>
                </c:pt>
                <c:pt idx="61">
                  <c:v>O0253</c:v>
                </c:pt>
                <c:pt idx="62">
                  <c:v>O0262</c:v>
                </c:pt>
                <c:pt idx="63">
                  <c:v>O0263</c:v>
                </c:pt>
                <c:pt idx="64">
                  <c:v>O0270</c:v>
                </c:pt>
                <c:pt idx="65">
                  <c:v>O0271</c:v>
                </c:pt>
                <c:pt idx="66">
                  <c:v>O0276</c:v>
                </c:pt>
                <c:pt idx="67">
                  <c:v>O0278</c:v>
                </c:pt>
                <c:pt idx="68">
                  <c:v>O0286</c:v>
                </c:pt>
                <c:pt idx="69">
                  <c:v>O0287</c:v>
                </c:pt>
                <c:pt idx="70">
                  <c:v>O0002</c:v>
                </c:pt>
                <c:pt idx="71">
                  <c:v>O0007</c:v>
                </c:pt>
                <c:pt idx="72">
                  <c:v>O0025</c:v>
                </c:pt>
                <c:pt idx="73">
                  <c:v>O0027</c:v>
                </c:pt>
                <c:pt idx="74">
                  <c:v>O0030</c:v>
                </c:pt>
                <c:pt idx="75">
                  <c:v>O0033</c:v>
                </c:pt>
                <c:pt idx="76">
                  <c:v>O0046</c:v>
                </c:pt>
                <c:pt idx="77">
                  <c:v>O0052</c:v>
                </c:pt>
                <c:pt idx="78">
                  <c:v>O0057</c:v>
                </c:pt>
                <c:pt idx="79">
                  <c:v>O0058</c:v>
                </c:pt>
                <c:pt idx="80">
                  <c:v>O0060</c:v>
                </c:pt>
                <c:pt idx="81">
                  <c:v>O0061</c:v>
                </c:pt>
                <c:pt idx="82">
                  <c:v>O0067</c:v>
                </c:pt>
                <c:pt idx="83">
                  <c:v>O0073</c:v>
                </c:pt>
                <c:pt idx="84">
                  <c:v>O0074</c:v>
                </c:pt>
                <c:pt idx="85">
                  <c:v>O0081</c:v>
                </c:pt>
                <c:pt idx="86">
                  <c:v>O0082</c:v>
                </c:pt>
                <c:pt idx="87">
                  <c:v>O0087</c:v>
                </c:pt>
                <c:pt idx="88">
                  <c:v>O0089</c:v>
                </c:pt>
                <c:pt idx="89">
                  <c:v>O0090</c:v>
                </c:pt>
                <c:pt idx="90">
                  <c:v>O0091</c:v>
                </c:pt>
                <c:pt idx="91">
                  <c:v>O0094</c:v>
                </c:pt>
                <c:pt idx="92">
                  <c:v>O0095</c:v>
                </c:pt>
                <c:pt idx="93">
                  <c:v>O0096</c:v>
                </c:pt>
                <c:pt idx="94">
                  <c:v>O0097</c:v>
                </c:pt>
                <c:pt idx="95">
                  <c:v>O0103</c:v>
                </c:pt>
                <c:pt idx="96">
                  <c:v>O0110</c:v>
                </c:pt>
                <c:pt idx="97">
                  <c:v>O0112</c:v>
                </c:pt>
                <c:pt idx="98">
                  <c:v>O0117</c:v>
                </c:pt>
                <c:pt idx="99">
                  <c:v>O0120</c:v>
                </c:pt>
                <c:pt idx="100">
                  <c:v>O0121</c:v>
                </c:pt>
                <c:pt idx="101">
                  <c:v>O0124</c:v>
                </c:pt>
                <c:pt idx="102">
                  <c:v>O0127</c:v>
                </c:pt>
                <c:pt idx="103">
                  <c:v>O0131</c:v>
                </c:pt>
                <c:pt idx="104">
                  <c:v>O0134</c:v>
                </c:pt>
                <c:pt idx="105">
                  <c:v>O0137</c:v>
                </c:pt>
                <c:pt idx="106">
                  <c:v>O0141</c:v>
                </c:pt>
                <c:pt idx="107">
                  <c:v>O0145</c:v>
                </c:pt>
                <c:pt idx="108">
                  <c:v>O0146</c:v>
                </c:pt>
                <c:pt idx="109">
                  <c:v>O0152</c:v>
                </c:pt>
                <c:pt idx="110">
                  <c:v>O0157</c:v>
                </c:pt>
                <c:pt idx="111">
                  <c:v>O0165</c:v>
                </c:pt>
                <c:pt idx="112">
                  <c:v>O0168</c:v>
                </c:pt>
                <c:pt idx="113">
                  <c:v>O0176</c:v>
                </c:pt>
                <c:pt idx="114">
                  <c:v>O0192</c:v>
                </c:pt>
                <c:pt idx="115">
                  <c:v>O0198</c:v>
                </c:pt>
                <c:pt idx="116">
                  <c:v>O0199</c:v>
                </c:pt>
                <c:pt idx="117">
                  <c:v>O0205</c:v>
                </c:pt>
                <c:pt idx="118">
                  <c:v>O0208</c:v>
                </c:pt>
                <c:pt idx="119">
                  <c:v>O0211</c:v>
                </c:pt>
                <c:pt idx="120">
                  <c:v>O0215</c:v>
                </c:pt>
                <c:pt idx="121">
                  <c:v>O0216</c:v>
                </c:pt>
                <c:pt idx="122">
                  <c:v>O0219</c:v>
                </c:pt>
                <c:pt idx="123">
                  <c:v>O0220</c:v>
                </c:pt>
                <c:pt idx="124">
                  <c:v>O0227</c:v>
                </c:pt>
                <c:pt idx="125">
                  <c:v>O0229</c:v>
                </c:pt>
                <c:pt idx="126">
                  <c:v>O0232</c:v>
                </c:pt>
                <c:pt idx="127">
                  <c:v>O0235</c:v>
                </c:pt>
                <c:pt idx="128">
                  <c:v>O0238</c:v>
                </c:pt>
                <c:pt idx="129">
                  <c:v>O0240</c:v>
                </c:pt>
                <c:pt idx="130">
                  <c:v>O0243</c:v>
                </c:pt>
                <c:pt idx="131">
                  <c:v>O0244</c:v>
                </c:pt>
                <c:pt idx="132">
                  <c:v>O0249</c:v>
                </c:pt>
                <c:pt idx="133">
                  <c:v>O0251</c:v>
                </c:pt>
                <c:pt idx="134">
                  <c:v>O0252</c:v>
                </c:pt>
                <c:pt idx="135">
                  <c:v>O0254</c:v>
                </c:pt>
                <c:pt idx="136">
                  <c:v>O0256</c:v>
                </c:pt>
                <c:pt idx="137">
                  <c:v>O0257</c:v>
                </c:pt>
                <c:pt idx="138">
                  <c:v>O0258</c:v>
                </c:pt>
                <c:pt idx="139">
                  <c:v>O0264</c:v>
                </c:pt>
                <c:pt idx="140">
                  <c:v>O0266</c:v>
                </c:pt>
                <c:pt idx="141">
                  <c:v>O0268</c:v>
                </c:pt>
                <c:pt idx="142">
                  <c:v>O0274</c:v>
                </c:pt>
                <c:pt idx="143">
                  <c:v>O0279</c:v>
                </c:pt>
                <c:pt idx="144">
                  <c:v>O0282</c:v>
                </c:pt>
                <c:pt idx="145">
                  <c:v>O0288</c:v>
                </c:pt>
                <c:pt idx="146">
                  <c:v>O0289</c:v>
                </c:pt>
                <c:pt idx="147">
                  <c:v>O0291</c:v>
                </c:pt>
                <c:pt idx="148">
                  <c:v>O0292</c:v>
                </c:pt>
                <c:pt idx="149">
                  <c:v>O0298</c:v>
                </c:pt>
                <c:pt idx="150">
                  <c:v>O0300</c:v>
                </c:pt>
              </c:strCache>
            </c:strRef>
          </c:cat>
          <c:val>
            <c:numRef>
              <c:f>'sql6 3'!$B$2:$B$152</c:f>
              <c:numCache>
                <c:formatCode>General</c:formatCode>
                <c:ptCount val="15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4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4</c:v>
                </c:pt>
                <c:pt idx="65">
                  <c:v>4</c:v>
                </c:pt>
                <c:pt idx="66">
                  <c:v>4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3</c:v>
                </c:pt>
                <c:pt idx="71">
                  <c:v>3</c:v>
                </c:pt>
                <c:pt idx="72">
                  <c:v>3</c:v>
                </c:pt>
                <c:pt idx="73">
                  <c:v>3</c:v>
                </c:pt>
                <c:pt idx="74">
                  <c:v>3</c:v>
                </c:pt>
                <c:pt idx="75">
                  <c:v>3</c:v>
                </c:pt>
                <c:pt idx="76">
                  <c:v>3</c:v>
                </c:pt>
                <c:pt idx="77">
                  <c:v>3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</c:v>
                </c:pt>
                <c:pt idx="110">
                  <c:v>3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3</c:v>
                </c:pt>
                <c:pt idx="115">
                  <c:v>3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</c:v>
                </c:pt>
                <c:pt idx="120">
                  <c:v>3</c:v>
                </c:pt>
                <c:pt idx="121">
                  <c:v>3</c:v>
                </c:pt>
                <c:pt idx="122">
                  <c:v>3</c:v>
                </c:pt>
                <c:pt idx="123">
                  <c:v>3</c:v>
                </c:pt>
                <c:pt idx="124">
                  <c:v>3</c:v>
                </c:pt>
                <c:pt idx="125">
                  <c:v>3</c:v>
                </c:pt>
                <c:pt idx="126">
                  <c:v>3</c:v>
                </c:pt>
                <c:pt idx="127">
                  <c:v>3</c:v>
                </c:pt>
                <c:pt idx="128">
                  <c:v>3</c:v>
                </c:pt>
                <c:pt idx="129">
                  <c:v>3</c:v>
                </c:pt>
                <c:pt idx="130">
                  <c:v>3</c:v>
                </c:pt>
                <c:pt idx="131">
                  <c:v>3</c:v>
                </c:pt>
                <c:pt idx="132">
                  <c:v>3</c:v>
                </c:pt>
                <c:pt idx="133">
                  <c:v>3</c:v>
                </c:pt>
                <c:pt idx="134">
                  <c:v>3</c:v>
                </c:pt>
                <c:pt idx="135">
                  <c:v>3</c:v>
                </c:pt>
                <c:pt idx="136">
                  <c:v>3</c:v>
                </c:pt>
                <c:pt idx="137">
                  <c:v>3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3</c:v>
                </c:pt>
                <c:pt idx="142">
                  <c:v>3</c:v>
                </c:pt>
                <c:pt idx="143">
                  <c:v>3</c:v>
                </c:pt>
                <c:pt idx="144">
                  <c:v>3</c:v>
                </c:pt>
                <c:pt idx="145">
                  <c:v>3</c:v>
                </c:pt>
                <c:pt idx="146">
                  <c:v>3</c:v>
                </c:pt>
                <c:pt idx="147">
                  <c:v>3</c:v>
                </c:pt>
                <c:pt idx="148">
                  <c:v>3</c:v>
                </c:pt>
                <c:pt idx="149">
                  <c:v>3</c:v>
                </c:pt>
                <c:pt idx="15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7E-4C9F-8455-F932E6AA3C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04954656"/>
        <c:axId val="804954176"/>
      </c:barChart>
      <c:catAx>
        <c:axId val="80495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4954176"/>
        <c:crosses val="autoZero"/>
        <c:auto val="1"/>
        <c:lblAlgn val="ctr"/>
        <c:lblOffset val="100"/>
        <c:noMultiLvlLbl val="0"/>
      </c:catAx>
      <c:valAx>
        <c:axId val="804954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4954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'sql7 2'!$A$1</c:f>
              <c:strCache>
                <c:ptCount val="1"/>
                <c:pt idx="0">
                  <c:v>On_Time_Delivery_Percentage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C6B-4C91-BC69-C05525B94AE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'sql7 2'!$A$2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6B-4C91-BC69-C05525B94A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835833333333333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'sql7 3'!$B$1</c:f>
              <c:strCache>
                <c:ptCount val="1"/>
                <c:pt idx="0">
                  <c:v>Average_Traffic_Delay_Minutes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'sql7 3'!$A$2:$A$21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'sql7 3'!$B$2:$B$21</c:f>
              <c:numCache>
                <c:formatCode>General</c:formatCode>
                <c:ptCount val="20"/>
                <c:pt idx="0">
                  <c:v>36</c:v>
                </c:pt>
                <c:pt idx="1">
                  <c:v>22</c:v>
                </c:pt>
                <c:pt idx="2">
                  <c:v>11</c:v>
                </c:pt>
                <c:pt idx="3">
                  <c:v>3</c:v>
                </c:pt>
                <c:pt idx="4">
                  <c:v>26</c:v>
                </c:pt>
                <c:pt idx="5">
                  <c:v>42</c:v>
                </c:pt>
                <c:pt idx="6">
                  <c:v>51</c:v>
                </c:pt>
                <c:pt idx="7">
                  <c:v>34</c:v>
                </c:pt>
                <c:pt idx="8">
                  <c:v>46</c:v>
                </c:pt>
                <c:pt idx="9">
                  <c:v>40</c:v>
                </c:pt>
                <c:pt idx="10">
                  <c:v>25</c:v>
                </c:pt>
                <c:pt idx="11">
                  <c:v>29</c:v>
                </c:pt>
                <c:pt idx="12">
                  <c:v>38</c:v>
                </c:pt>
                <c:pt idx="13">
                  <c:v>58</c:v>
                </c:pt>
                <c:pt idx="14">
                  <c:v>29</c:v>
                </c:pt>
                <c:pt idx="15">
                  <c:v>8</c:v>
                </c:pt>
                <c:pt idx="16">
                  <c:v>8</c:v>
                </c:pt>
                <c:pt idx="17">
                  <c:v>11</c:v>
                </c:pt>
                <c:pt idx="18">
                  <c:v>37</c:v>
                </c:pt>
                <c:pt idx="19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0D-4179-9C67-0FF8BB6EC4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588997984"/>
        <c:axId val="589001344"/>
        <c:axId val="0"/>
      </c:bar3DChart>
      <c:catAx>
        <c:axId val="58899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001344"/>
        <c:crosses val="autoZero"/>
        <c:auto val="1"/>
        <c:lblAlgn val="ctr"/>
        <c:lblOffset val="100"/>
        <c:noMultiLvlLbl val="0"/>
      </c:catAx>
      <c:valAx>
        <c:axId val="589001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997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'sql3 3 1 (2)'!$A$2:$A$21</cx:f>
        <cx:lvl ptCount="20">
          <cx:pt idx="0">R020</cx:pt>
          <cx:pt idx="1">R012</cx:pt>
          <cx:pt idx="2">R017</cx:pt>
          <cx:pt idx="3">R013</cx:pt>
          <cx:pt idx="4">R004</cx:pt>
          <cx:pt idx="5">R015</cx:pt>
          <cx:pt idx="6">R005</cx:pt>
          <cx:pt idx="7">R011</cx:pt>
          <cx:pt idx="8">R010</cx:pt>
          <cx:pt idx="9">R007</cx:pt>
          <cx:pt idx="10">R003</cx:pt>
          <cx:pt idx="11">R001</cx:pt>
          <cx:pt idx="12">R018</cx:pt>
          <cx:pt idx="13">R014</cx:pt>
          <cx:pt idx="14">R009</cx:pt>
          <cx:pt idx="15">R006</cx:pt>
          <cx:pt idx="16">R002</cx:pt>
          <cx:pt idx="17">R008</cx:pt>
          <cx:pt idx="18">R019</cx:pt>
          <cx:pt idx="19">R016</cx:pt>
        </cx:lvl>
      </cx:strDim>
      <cx:numDim type="val">
        <cx:f>'sql3 3 1 (2)'!$B$2:$B$21</cx:f>
        <cx:lvl ptCount="20" formatCode="General">
          <cx:pt idx="0">70.588235294117652</cx:pt>
          <cx:pt idx="1">66.666666666666671</cx:pt>
          <cx:pt idx="2">57.142857142857146</cx:pt>
          <cx:pt idx="3">52.941176470588232</cx:pt>
          <cx:pt idx="4">50</cx:pt>
          <cx:pt idx="5">50</cx:pt>
          <cx:pt idx="6">46.666666666666664</cx:pt>
          <cx:pt idx="7">45</cx:pt>
          <cx:pt idx="8">45</cx:pt>
          <cx:pt idx="9">43.75</cx:pt>
          <cx:pt idx="10">40</cx:pt>
          <cx:pt idx="11">40</cx:pt>
          <cx:pt idx="12">40</cx:pt>
          <cx:pt idx="13">38.46153846153846</cx:pt>
          <cx:pt idx="14">37.5</cx:pt>
          <cx:pt idx="15">36.363636363636367</cx:pt>
          <cx:pt idx="16">31.818181818181817</cx:pt>
          <cx:pt idx="17">31.25</cx:pt>
          <cx:pt idx="18">30.76923076923077</cx:pt>
          <cx:pt idx="19">25</cx:pt>
        </cx:lvl>
      </cx:numDim>
    </cx:data>
  </cx:chartData>
  <cx:chart>
    <cx:title pos="t" align="ctr" overlay="0"/>
    <cx:plotArea>
      <cx:plotAreaRegion>
        <cx:series layoutId="clusteredColumn" uniqueId="{BCB6B380-A897-4B67-A340-405C9CCD899B}">
          <cx:tx>
            <cx:txData>
              <cx:f>'sql3 3 1 (2)'!$B$1</cx:f>
              <cx:v>Delayed_Shipment_Percentage</cx:v>
            </cx:txData>
          </cx:tx>
          <cx:dataId val="0"/>
          <cx:layoutPr>
            <cx:aggregation/>
          </cx:layoutPr>
          <cx:axisId val="1"/>
        </cx:series>
        <cx:series layoutId="paretoLine" ownerIdx="0" uniqueId="{50BEE0D9-3A00-4A52-BF51-50574EAD99C0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title pos="t" align="ctr" overlay="0"/>
    <cx:plotArea>
      <cx:plotAreaRegion/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65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5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34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843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7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515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67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085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14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814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5429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03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151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82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894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59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D7D39-0F08-4155-8062-120B43B36A9A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CC5A2-5DC7-4A68-950E-4DC17D821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6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D2BC-96A2-9D68-B512-B93F5A82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1: Data Cleaning &amp; Preparation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4ADF-FF0C-0C52-69BA-5A274B46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and delete duplicate Order _ID records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use Project1;</a:t>
            </a:r>
          </a:p>
          <a:p>
            <a:pPr marL="0" indent="0">
              <a:buNone/>
            </a:pPr>
            <a:r>
              <a:rPr lang="en-US" sz="2000" dirty="0"/>
              <a:t>SELECT Order _ID, COUNT(Order _ID) AS Duplicate _Count</a:t>
            </a:r>
          </a:p>
          <a:p>
            <a:pPr marL="0" indent="0">
              <a:buNone/>
            </a:pPr>
            <a:r>
              <a:rPr lang="en-US" sz="2000" dirty="0"/>
              <a:t>FROM orders</a:t>
            </a:r>
          </a:p>
          <a:p>
            <a:pPr marL="0" indent="0">
              <a:buNone/>
            </a:pPr>
            <a:r>
              <a:rPr lang="en-US" sz="2000" dirty="0"/>
              <a:t>GROUP BY Order _IDHAVING COUNT(Order _ID) &gt; 1;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* FROM Orders </a:t>
            </a:r>
          </a:p>
          <a:p>
            <a:pPr marL="0" indent="0">
              <a:buNone/>
            </a:pPr>
            <a:r>
              <a:rPr lang="en-US" sz="2000" dirty="0"/>
              <a:t>WHERE Order _ID IN ( SELECT MIN(order _id)FROM Orders GROUP BY Order _ID );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6470371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95DF-9EF1-ACF6-11B4-EA1FF1F0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1: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B03B0-C6E5-636B-875F-B1209F5CF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Replace null Traffic _Delay _Min with the average delay for that route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SET SQL_SAFE_UPDATES = 0;</a:t>
            </a:r>
          </a:p>
          <a:p>
            <a:pPr marL="0" indent="0">
              <a:buNone/>
            </a:pPr>
            <a:r>
              <a:rPr lang="en-IN" sz="2000" dirty="0"/>
              <a:t>UPDATE Routes</a:t>
            </a:r>
          </a:p>
          <a:p>
            <a:pPr marL="0" indent="0">
              <a:buNone/>
            </a:pPr>
            <a:r>
              <a:rPr lang="en-IN" sz="2000" dirty="0"/>
              <a:t>SET Traffic _Delay _Min = (SELECT AVG(R .Traffic _Delay _Min)</a:t>
            </a:r>
          </a:p>
          <a:p>
            <a:pPr marL="0" indent="0">
              <a:buNone/>
            </a:pPr>
            <a:r>
              <a:rPr lang="en-IN" sz="2000" dirty="0"/>
              <a:t>FROM (SELECT * FROM Routes) AS R</a:t>
            </a:r>
          </a:p>
          <a:p>
            <a:pPr marL="0" indent="0">
              <a:buNone/>
            </a:pPr>
            <a:r>
              <a:rPr lang="en-IN" sz="2000" dirty="0"/>
              <a:t>WHERE R .Traffic _Delay _Min IS NOT NULL</a:t>
            </a:r>
          </a:p>
          <a:p>
            <a:pPr marL="0" indent="0">
              <a:buNone/>
            </a:pPr>
            <a:r>
              <a:rPr lang="en-IN" sz="2000" dirty="0"/>
              <a:t>)</a:t>
            </a:r>
          </a:p>
          <a:p>
            <a:pPr marL="0" indent="0">
              <a:buNone/>
            </a:pPr>
            <a:r>
              <a:rPr lang="en-IN" sz="2000" dirty="0"/>
              <a:t>WHERE Traffic _Delay _Min IS NULL;</a:t>
            </a:r>
          </a:p>
        </p:txBody>
      </p:sp>
    </p:spTree>
    <p:extLst>
      <p:ext uri="{BB962C8B-B14F-4D97-AF65-F5344CB8AC3E}">
        <p14:creationId xmlns:p14="http://schemas.microsoft.com/office/powerpoint/2010/main" val="362618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B140-0A1D-4784-D050-1D0FBF95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DA341-8254-4720-EA8A-E701059A2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Convert all date columns into YYYY-MM-DD format using SQL functions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SELECT Order _ ID,</a:t>
            </a:r>
          </a:p>
          <a:p>
            <a:pPr marL="0" indent="0">
              <a:buNone/>
            </a:pPr>
            <a:r>
              <a:rPr lang="en-US" sz="2000" dirty="0"/>
              <a:t>DATE(Order _ Date) AS Order _ Date _ Formatted,</a:t>
            </a:r>
          </a:p>
          <a:p>
            <a:pPr marL="0" indent="0">
              <a:buNone/>
            </a:pPr>
            <a:r>
              <a:rPr lang="en-US" sz="2000" dirty="0"/>
              <a:t>DATE(Expected _ Delivery _ Date) AS Expected _ Delivery _ Date _ Formatted,</a:t>
            </a:r>
          </a:p>
          <a:p>
            <a:pPr marL="0" indent="0">
              <a:buNone/>
            </a:pPr>
            <a:r>
              <a:rPr lang="en-US" sz="2000" dirty="0"/>
              <a:t>DATE(Actual _Delivery _Date) AS Actual _Delivery_ Date _ Formatted</a:t>
            </a:r>
          </a:p>
          <a:p>
            <a:pPr marL="0" indent="0">
              <a:buNone/>
            </a:pPr>
            <a:r>
              <a:rPr lang="en-US" sz="2000" dirty="0"/>
              <a:t>FROM Orders;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6799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B7C8-088E-3F01-C58D-EA54CB66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225FB-8E03-2A35-6FDC-34241F74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Ensure that no Actual _Delivery _ Date is before Order _ Date (flag such records)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dirty="0"/>
              <a:t>SELECT*,</a:t>
            </a:r>
          </a:p>
          <a:p>
            <a:pPr marL="0" indent="0">
              <a:buNone/>
            </a:pPr>
            <a:r>
              <a:rPr lang="en-US" sz="1800" dirty="0"/>
              <a:t>CASE</a:t>
            </a:r>
          </a:p>
          <a:p>
            <a:pPr marL="0" indent="0">
              <a:buNone/>
            </a:pPr>
            <a:r>
              <a:rPr lang="en-US" sz="1800" dirty="0"/>
              <a:t>WHEN Actual _Delivery _Date  &lt; Order _Date THEN 'Flagged: Actual Delivery Before Order Date’</a:t>
            </a:r>
          </a:p>
          <a:p>
            <a:pPr marL="0" indent="0">
              <a:buNone/>
            </a:pPr>
            <a:r>
              <a:rPr lang="en-US" sz="1800" dirty="0"/>
              <a:t>ELSE 'OK’</a:t>
            </a:r>
          </a:p>
          <a:p>
            <a:pPr marL="0" indent="0">
              <a:buNone/>
            </a:pPr>
            <a:r>
              <a:rPr lang="en-US" sz="1800" dirty="0"/>
              <a:t>END AS Date_Integrity_Check</a:t>
            </a:r>
          </a:p>
          <a:p>
            <a:pPr marL="0" indent="0">
              <a:buNone/>
            </a:pPr>
            <a:r>
              <a:rPr lang="en-US" sz="1800" dirty="0"/>
              <a:t>FROM Orders;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6827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A23B-3987-FDE7-E7E2-A883AAEE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Ensure that no Actual _Delivery _ Date is before Order _ Date (flag such records)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89995-5C5F-34C6-3598-CE75A9999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640147"/>
              </p:ext>
            </p:extLst>
          </p:nvPr>
        </p:nvGraphicFramePr>
        <p:xfrm>
          <a:off x="196645" y="2231923"/>
          <a:ext cx="4109883" cy="365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2634">
                  <a:extLst>
                    <a:ext uri="{9D8B030D-6E8A-4147-A177-3AD203B41FA5}">
                      <a16:colId xmlns:a16="http://schemas.microsoft.com/office/drawing/2014/main" val="349454157"/>
                    </a:ext>
                  </a:extLst>
                </a:gridCol>
                <a:gridCol w="1643954">
                  <a:extLst>
                    <a:ext uri="{9D8B030D-6E8A-4147-A177-3AD203B41FA5}">
                      <a16:colId xmlns:a16="http://schemas.microsoft.com/office/drawing/2014/main" val="3423726443"/>
                    </a:ext>
                  </a:extLst>
                </a:gridCol>
                <a:gridCol w="803295">
                  <a:extLst>
                    <a:ext uri="{9D8B030D-6E8A-4147-A177-3AD203B41FA5}">
                      <a16:colId xmlns:a16="http://schemas.microsoft.com/office/drawing/2014/main" val="2637667192"/>
                    </a:ext>
                  </a:extLst>
                </a:gridCol>
              </a:tblGrid>
              <a:tr h="498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Count of Order _ID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Delivery _Status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3533535"/>
                  </a:ext>
                </a:extLst>
              </a:tr>
              <a:tr h="498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Delayed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 Time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51857734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7798071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13894276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02566029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4612298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9525504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0164025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4093313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3702498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8784401"/>
                  </a:ext>
                </a:extLst>
              </a:tr>
              <a:tr h="26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498821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C4A77CF-D924-1CFE-51B5-C17D34D245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2491286"/>
              </p:ext>
            </p:extLst>
          </p:nvPr>
        </p:nvGraphicFramePr>
        <p:xfrm>
          <a:off x="5053781" y="2231922"/>
          <a:ext cx="5869857" cy="3483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2385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604D-160F-95BB-EB88-07D71FA6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CA52A-AFA2-0A4F-A831-C3D43AD3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Calculate delivery delay (in days) for each order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600" dirty="0"/>
              <a:t>SELECTOrder_ID,Warehouse_ID,Route_ID,Actual_Delivery_Date,Expected_Delivery_Date,</a:t>
            </a:r>
          </a:p>
          <a:p>
            <a:pPr marL="0" indent="0">
              <a:buNone/>
            </a:pPr>
            <a:r>
              <a:rPr lang="en-US" sz="1600" dirty="0"/>
              <a:t>(Actual _Delivery _Date ) - (Expected _Delivery _Date ) AS Delivery _Delay _Days , </a:t>
            </a:r>
          </a:p>
          <a:p>
            <a:pPr marL="0" indent="0">
              <a:buNone/>
            </a:pPr>
            <a:r>
              <a:rPr lang="en-US" sz="1600" dirty="0"/>
              <a:t>RANK() OVER (PARTITION BY Warehouse _ ID</a:t>
            </a:r>
          </a:p>
          <a:p>
            <a:pPr marL="0" indent="0">
              <a:buNone/>
            </a:pPr>
            <a:r>
              <a:rPr lang="en-US" sz="1600" dirty="0"/>
              <a:t>ORDER BY ((Actual _Delivery _Date ) - (Expected _Delivery _Date )) DESC) AS Delay _ Rank _Within _ Warehouse</a:t>
            </a:r>
          </a:p>
          <a:p>
            <a:pPr marL="0" indent="0">
              <a:buNone/>
            </a:pPr>
            <a:r>
              <a:rPr lang="en-US" sz="1600" dirty="0"/>
              <a:t>FROM Orders ORDER BY Warehouse _ ID ,Delivery _Delay _Days  DESC;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7146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6FC8-24E5-D4F4-E477-FB969883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Calculate delivery delay (in days) for each order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E4AF71-304F-36D5-C723-F5A9964B30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260975"/>
              </p:ext>
            </p:extLst>
          </p:nvPr>
        </p:nvGraphicFramePr>
        <p:xfrm>
          <a:off x="685801" y="2193925"/>
          <a:ext cx="4662948" cy="402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79959D-A46A-73E7-7603-BCD3AD673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654793"/>
              </p:ext>
            </p:extLst>
          </p:nvPr>
        </p:nvGraphicFramePr>
        <p:xfrm>
          <a:off x="6617110" y="2517058"/>
          <a:ext cx="5102942" cy="38224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131">
                  <a:extLst>
                    <a:ext uri="{9D8B030D-6E8A-4147-A177-3AD203B41FA5}">
                      <a16:colId xmlns:a16="http://schemas.microsoft.com/office/drawing/2014/main" val="943783655"/>
                    </a:ext>
                  </a:extLst>
                </a:gridCol>
                <a:gridCol w="3893811">
                  <a:extLst>
                    <a:ext uri="{9D8B030D-6E8A-4147-A177-3AD203B41FA5}">
                      <a16:colId xmlns:a16="http://schemas.microsoft.com/office/drawing/2014/main" val="3102919641"/>
                    </a:ext>
                  </a:extLst>
                </a:gridCol>
              </a:tblGrid>
              <a:tr h="317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 of Delay_Rank_Within_Warehouse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42449429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99306939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4652376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8007623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5019708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64473196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867499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4303356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33782532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4190785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72120963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8436519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1742263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5799025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3084985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9353767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7023652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90290927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7274353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2782043"/>
                  </a:ext>
                </a:extLst>
              </a:tr>
              <a:tr h="1691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5051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22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DD2D-47D6-B917-BE33-A1DFB73A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640B7-8B88-DC94-EFC9-A3FAF20C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Top 10 delayed routes based on average delay days.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dirty="0"/>
              <a:t>SELECT Route _ID,</a:t>
            </a:r>
          </a:p>
          <a:p>
            <a:pPr marL="0" indent="0">
              <a:buNone/>
            </a:pPr>
            <a:r>
              <a:rPr lang="en-US" sz="1600" dirty="0"/>
              <a:t>AVG((Actual _Delivery _Date ) - (Expected _Delivery _Date )) AS Avg _Delay _ Days</a:t>
            </a:r>
          </a:p>
          <a:p>
            <a:pPr marL="0" indent="0">
              <a:buNone/>
            </a:pPr>
            <a:r>
              <a:rPr lang="en-US" sz="1600" dirty="0"/>
              <a:t>FROM Orders</a:t>
            </a:r>
          </a:p>
          <a:p>
            <a:pPr marL="0" indent="0">
              <a:buNone/>
            </a:pPr>
            <a:r>
              <a:rPr lang="en-US" sz="1600" dirty="0"/>
              <a:t>GROUP BY Route _ IDORDER BY Avg _Delay _ Days DESC LIMIT 10;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3353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6E86-EADF-54C1-C8AC-2C7878BD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Find Top 10 delayed routes based on average delay days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ECF1FE-0C74-D111-F594-E15543541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032590"/>
              </p:ext>
            </p:extLst>
          </p:nvPr>
        </p:nvGraphicFramePr>
        <p:xfrm>
          <a:off x="3333135" y="2644877"/>
          <a:ext cx="4139381" cy="256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734">
                  <a:extLst>
                    <a:ext uri="{9D8B030D-6E8A-4147-A177-3AD203B41FA5}">
                      <a16:colId xmlns:a16="http://schemas.microsoft.com/office/drawing/2014/main" val="1606880425"/>
                    </a:ext>
                  </a:extLst>
                </a:gridCol>
                <a:gridCol w="2532647">
                  <a:extLst>
                    <a:ext uri="{9D8B030D-6E8A-4147-A177-3AD203B41FA5}">
                      <a16:colId xmlns:a16="http://schemas.microsoft.com/office/drawing/2014/main" val="3937070493"/>
                    </a:ext>
                  </a:extLst>
                </a:gridCol>
              </a:tblGrid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Avg_Delay_Days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2596000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4361760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0441716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9883958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5976833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8366999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9164422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35102644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2679565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71486277"/>
                  </a:ext>
                </a:extLst>
              </a:tr>
              <a:tr h="233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12122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28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0E9D-3678-6CB0-0804-D720CCD8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1742E-E76C-B9C0-2D33-FA0EF9E3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 window functions to rank all orders by delay within each warehouse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SELECTOrder_ID,Warehouse_ID,Route_ID,Actual_Delivery_Date,Expected_Delivery_Date,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(Actual _Delivery _Date ) - (Expected _Delivery _Date ) AS Delivery _Delay _Days ,   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RANK() OVER (PARTITION BY Warehouse _ID 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ORDER BY ((Actual _Delivery _Date) - (Expected _Delivery _Date )) DESC)    AS Delay _Rank _Within _ Warehouse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FROM Orders</a:t>
            </a:r>
          </a:p>
          <a:p>
            <a:pPr marL="0" indent="0">
              <a:buNone/>
            </a:pPr>
            <a:r>
              <a:rPr lang="en-U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ORDER BY Warehouse _ID ,Delivery _Delay _Days  DESC;</a:t>
            </a:r>
            <a:endParaRPr lang="en-IN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128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2C2EC-DE8F-AAEA-DD96-DF4C65BB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Use window functions to rank all orders by delay within each warehouse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3D0287-D092-496F-C736-A8DB15B8B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6766360"/>
              </p:ext>
            </p:extLst>
          </p:nvPr>
        </p:nvGraphicFramePr>
        <p:xfrm>
          <a:off x="685800" y="2193925"/>
          <a:ext cx="10572135" cy="402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9623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0120-1066-8749-B983-E8F843B3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AC2B-D7D5-4856-5D8B-C801CD7B6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For each route, calculate:</a:t>
            </a:r>
          </a:p>
          <a:p>
            <a:pPr marL="0" indent="0">
              <a:buNone/>
            </a:pPr>
            <a:r>
              <a:rPr lang="en-US" sz="1800" dirty="0"/>
              <a:t>○ Average delivery time (in days).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Route _ID,</a:t>
            </a:r>
          </a:p>
          <a:p>
            <a:pPr marL="0" indent="0">
              <a:buNone/>
            </a:pPr>
            <a:r>
              <a:rPr lang="en-US" sz="1600" dirty="0"/>
              <a:t>AVG((Actual _Delivery _Date ) - (Order _Date )) AS Avg _Total _Delivery _Time _ Days</a:t>
            </a:r>
          </a:p>
          <a:p>
            <a:pPr marL="0" indent="0">
              <a:buNone/>
            </a:pPr>
            <a:r>
              <a:rPr lang="en-US" sz="1600" dirty="0"/>
              <a:t>FROM Orders GROUP BY Route _ID ;</a:t>
            </a:r>
          </a:p>
        </p:txBody>
      </p:sp>
    </p:spTree>
    <p:extLst>
      <p:ext uri="{BB962C8B-B14F-4D97-AF65-F5344CB8AC3E}">
        <p14:creationId xmlns:p14="http://schemas.microsoft.com/office/powerpoint/2010/main" val="2025818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EE23-73DA-86C4-E98F-EEC5A12B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dirty="0"/>
              <a:t>For each route, calculate:</a:t>
            </a:r>
            <a:br>
              <a:rPr lang="en-US" sz="2000" dirty="0"/>
            </a:br>
            <a:r>
              <a:rPr lang="en-US" sz="2000" dirty="0"/>
              <a:t>○ Average delivery time (in days)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61776F-E1D9-C642-B436-5A7BE7FEF3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92650" y="2285841"/>
          <a:ext cx="2806700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244267278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05460458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Avg_Total_Delivery_Time_Days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39705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829919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14187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21525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33051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11034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2805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98149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147846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346278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42083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46748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008852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80265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64692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78482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498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42625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427569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227126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916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84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8082-A97D-6A94-9A21-A6AEBDD2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97D17-B4A9-2D04-5977-49B8C7E94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For each route, calculate:</a:t>
            </a:r>
          </a:p>
          <a:p>
            <a:pPr marL="0" indent="0">
              <a:buNone/>
            </a:pPr>
            <a:r>
              <a:rPr lang="en-US" sz="1600" dirty="0"/>
              <a:t>○</a:t>
            </a:r>
            <a:r>
              <a:rPr lang="en-US" sz="2000" dirty="0"/>
              <a:t> Average traffic delay.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Route _ID ,</a:t>
            </a:r>
          </a:p>
          <a:p>
            <a:pPr marL="0" indent="0">
              <a:buNone/>
            </a:pPr>
            <a:r>
              <a:rPr lang="en-US" sz="1600" dirty="0"/>
              <a:t>Traffic _Delay _ Min AS Average _Traffic _Delay _ Min</a:t>
            </a:r>
          </a:p>
          <a:p>
            <a:pPr marL="0" indent="0">
              <a:buNone/>
            </a:pPr>
            <a:r>
              <a:rPr lang="en-US" sz="1600" dirty="0"/>
              <a:t>FROM Routes</a:t>
            </a:r>
          </a:p>
          <a:p>
            <a:pPr marL="0" indent="0">
              <a:buNone/>
            </a:pPr>
            <a:r>
              <a:rPr lang="en-US" sz="1600" dirty="0"/>
              <a:t>ORDER BY Traffic _Delay _MinDESC;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76571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0368-D2C9-CBE6-7F82-071D2FD1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For each route, calculate:</a:t>
            </a:r>
            <a:br>
              <a:rPr lang="en-US" sz="2200" dirty="0"/>
            </a:br>
            <a:r>
              <a:rPr lang="en-US" sz="2200" dirty="0"/>
              <a:t>○ Average traffic delay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FE090A-B78F-250B-7BF6-0C698184F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7436836"/>
              </p:ext>
            </p:extLst>
          </p:nvPr>
        </p:nvGraphicFramePr>
        <p:xfrm>
          <a:off x="7452852" y="2349909"/>
          <a:ext cx="4611328" cy="3936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669">
                  <a:extLst>
                    <a:ext uri="{9D8B030D-6E8A-4147-A177-3AD203B41FA5}">
                      <a16:colId xmlns:a16="http://schemas.microsoft.com/office/drawing/2014/main" val="430300536"/>
                    </a:ext>
                  </a:extLst>
                </a:gridCol>
                <a:gridCol w="3277659">
                  <a:extLst>
                    <a:ext uri="{9D8B030D-6E8A-4147-A177-3AD203B41FA5}">
                      <a16:colId xmlns:a16="http://schemas.microsoft.com/office/drawing/2014/main" val="1130000414"/>
                    </a:ext>
                  </a:extLst>
                </a:gridCol>
              </a:tblGrid>
              <a:tr h="337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Average_Traffic_Delay_Min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7984645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9590519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6406444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49532991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6272284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1350375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8011499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5340374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8202561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3834308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5797260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9991218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0452279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3818281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49630795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3255869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7291459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1510844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45119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03498999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4126135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54CFF22-40C1-561C-311A-CFCDE6DF8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989583"/>
              </p:ext>
            </p:extLst>
          </p:nvPr>
        </p:nvGraphicFramePr>
        <p:xfrm>
          <a:off x="943897" y="2487561"/>
          <a:ext cx="5928851" cy="368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C770049-9238-2471-E4C0-988B33A90F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871132"/>
              </p:ext>
            </p:extLst>
          </p:nvPr>
        </p:nvGraphicFramePr>
        <p:xfrm>
          <a:off x="599768" y="2349908"/>
          <a:ext cx="5663380" cy="3936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7584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3702-D0C8-7BBE-770B-268C7B8D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1A92-546A-5DED-07E8-9772AB571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For each route, calculate:</a:t>
            </a:r>
          </a:p>
          <a:p>
            <a:pPr marL="0" indent="0">
              <a:buNone/>
            </a:pPr>
            <a:r>
              <a:rPr lang="en-US" sz="1800" dirty="0"/>
              <a:t>○ Distance-to-time efficiency ratio: Distance _ KM / Average _Travel _Time _Min 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/>
              <a:t>SELECT Route _ID ,</a:t>
            </a:r>
          </a:p>
          <a:p>
            <a:pPr marL="0" indent="0">
              <a:buNone/>
            </a:pPr>
            <a:r>
              <a:rPr lang="en-US" sz="1600" dirty="0"/>
              <a:t>(Distance _km *1.0)/average _travel _time _min AS Efficiency _Ratio</a:t>
            </a:r>
          </a:p>
          <a:p>
            <a:pPr marL="0" indent="0">
              <a:buNone/>
            </a:pPr>
            <a:r>
              <a:rPr lang="en-US" sz="1600" dirty="0"/>
              <a:t>FROM Routes;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71197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21D9-CF7F-5C19-13CC-96ECB0B1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each route, calculate:</a:t>
            </a:r>
            <a:br>
              <a:rPr lang="en-US" sz="2400" dirty="0"/>
            </a:br>
            <a:r>
              <a:rPr lang="en-US" sz="2400" dirty="0"/>
              <a:t>○ Distance-to-time efficiency ratio</a:t>
            </a:r>
            <a:endParaRPr lang="en-IN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DF6DE4-6699-FFE8-8F89-F656D5DB5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938980"/>
              </p:ext>
            </p:extLst>
          </p:nvPr>
        </p:nvGraphicFramePr>
        <p:xfrm>
          <a:off x="7708490" y="2253147"/>
          <a:ext cx="379771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3765">
                  <a:extLst>
                    <a:ext uri="{9D8B030D-6E8A-4147-A177-3AD203B41FA5}">
                      <a16:colId xmlns:a16="http://schemas.microsoft.com/office/drawing/2014/main" val="625659330"/>
                    </a:ext>
                  </a:extLst>
                </a:gridCol>
                <a:gridCol w="2303945">
                  <a:extLst>
                    <a:ext uri="{9D8B030D-6E8A-4147-A177-3AD203B41FA5}">
                      <a16:colId xmlns:a16="http://schemas.microsoft.com/office/drawing/2014/main" val="208253679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Efficiency_Ratio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70399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0.613679245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35665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2.156179775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12855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0.581578947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18359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4.278125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81297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0.37382199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3192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0.160655738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93207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0.282509506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346301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0.24372093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65300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0.604784689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63477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0.668604651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973257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0.955617978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69445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0.903636364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45267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0.9325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162161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2.278181818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695578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0.300869565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138986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0.151204819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790193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29434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0.536603774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756845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3.769387755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186465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0.550292398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944936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D4A124F-BB75-F4D0-6C0C-769ECBBEE8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928117"/>
              </p:ext>
            </p:extLst>
          </p:nvPr>
        </p:nvGraphicFramePr>
        <p:xfrm>
          <a:off x="816077" y="2332704"/>
          <a:ext cx="6017341" cy="4058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CACC4A9-30E5-9992-6C13-EC1FC280C5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004431"/>
              </p:ext>
            </p:extLst>
          </p:nvPr>
        </p:nvGraphicFramePr>
        <p:xfrm>
          <a:off x="589936" y="2332703"/>
          <a:ext cx="6361470" cy="3635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84041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F764-F15F-77F5-2FF1-9EE14569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D2BB-D142-90E1-458B-AEDC40CDE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3 routes with the worst efficiency ratio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/>
              <a:t>SELECT Route _ID,</a:t>
            </a:r>
          </a:p>
          <a:p>
            <a:pPr marL="0" indent="0">
              <a:buNone/>
            </a:pPr>
            <a:r>
              <a:rPr lang="en-US" sz="1600" dirty="0"/>
              <a:t>(Distance _km*1.0)/average _travel _time _min AS Efficiency _Ratio</a:t>
            </a:r>
          </a:p>
          <a:p>
            <a:pPr marL="0" indent="0">
              <a:buNone/>
            </a:pPr>
            <a:r>
              <a:rPr lang="en-US" sz="1600" dirty="0"/>
              <a:t>FROM Routes ORDER BY Efficiency _Ratio DESC Limit 3;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19897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5B3E-D8C8-DBF4-D2CD-64DC837D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Identify 3 routes with the worst efficiency ratio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387FD2-EBD8-4054-042B-F1A6E91BF7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830151"/>
              </p:ext>
            </p:extLst>
          </p:nvPr>
        </p:nvGraphicFramePr>
        <p:xfrm>
          <a:off x="8229600" y="2457899"/>
          <a:ext cx="3381068" cy="2163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9887">
                  <a:extLst>
                    <a:ext uri="{9D8B030D-6E8A-4147-A177-3AD203B41FA5}">
                      <a16:colId xmlns:a16="http://schemas.microsoft.com/office/drawing/2014/main" val="1110916142"/>
                    </a:ext>
                  </a:extLst>
                </a:gridCol>
                <a:gridCol w="2051181">
                  <a:extLst>
                    <a:ext uri="{9D8B030D-6E8A-4147-A177-3AD203B41FA5}">
                      <a16:colId xmlns:a16="http://schemas.microsoft.com/office/drawing/2014/main" val="3465194202"/>
                    </a:ext>
                  </a:extLst>
                </a:gridCol>
              </a:tblGrid>
              <a:tr h="540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Efficiency_Ratio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0638221"/>
                  </a:ext>
                </a:extLst>
              </a:tr>
              <a:tr h="540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4.278125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11014352"/>
                  </a:ext>
                </a:extLst>
              </a:tr>
              <a:tr h="540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3.769387755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2584457"/>
                  </a:ext>
                </a:extLst>
              </a:tr>
              <a:tr h="540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2.278181818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543503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CF53856-13A7-3F86-CDB1-CA8747C356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7725514"/>
              </p:ext>
            </p:extLst>
          </p:nvPr>
        </p:nvGraphicFramePr>
        <p:xfrm>
          <a:off x="2207342" y="24578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7128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B1DA-6A51-1EA2-89C9-DBCEA02E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EA3C-A85F-F052-29C1-CAE911196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routes with &gt;20% delayed shipments.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/>
              <a:t>SELECT Route _ID ,</a:t>
            </a:r>
          </a:p>
          <a:p>
            <a:pPr marL="0" indent="0">
              <a:buNone/>
            </a:pPr>
            <a:r>
              <a:rPr lang="en-US" sz="1600" dirty="0"/>
              <a:t>(CAST(SUM(CASE WHEN Delivery _Status= 'Delayed' THEN 1 ELSE 0 END) AS REAL) * 100.0 / COUNT(*)) AS Delayed _Shipment _ Percentage</a:t>
            </a:r>
          </a:p>
          <a:p>
            <a:pPr marL="0" indent="0">
              <a:buNone/>
            </a:pPr>
            <a:r>
              <a:rPr lang="en-US" sz="1600" dirty="0"/>
              <a:t>FROM Orders GROUP BY Route _ID HAVING Delayed _Shipment _Percentage&gt; 20.0</a:t>
            </a:r>
          </a:p>
          <a:p>
            <a:pPr marL="0" indent="0">
              <a:buNone/>
            </a:pPr>
            <a:r>
              <a:rPr lang="en-US" sz="1600" dirty="0"/>
              <a:t>ORDER BY Delayed _Shipment _ Percentage DESC;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71654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F7C9-8A1E-886A-DFB0-33BA6BED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Find routes with &gt;20% delayed shipments.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7F7128-A018-392A-0F0C-7D637AB8EC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577362"/>
              </p:ext>
            </p:extLst>
          </p:nvPr>
        </p:nvGraphicFramePr>
        <p:xfrm>
          <a:off x="8773037" y="2315337"/>
          <a:ext cx="2806700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198278027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9527156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Delayed_Shipment_Percentage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13041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70.58823529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8616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66.66666667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92254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57.14285714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29565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52.94117647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04363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53713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88184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46.66666667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25111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27918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07910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7274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54862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37935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647648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38.46153846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847535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20950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36.36363636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53289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31.81818182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58824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102729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30.76923077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51197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70985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61A99FEC-037D-2B32-7937-36211039023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26999738"/>
                  </p:ext>
                </p:extLst>
              </p:nvPr>
            </p:nvGraphicFramePr>
            <p:xfrm>
              <a:off x="1440426" y="2418735"/>
              <a:ext cx="5884606" cy="367489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61A99FEC-037D-2B32-7937-3621103902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0426" y="2418735"/>
                <a:ext cx="5884606" cy="36748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4457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7FB3-49EA-A8AF-E952-E96DA681D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350C-4BC5-DB5E-02C0-A82852A9F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 potential routes for optimization.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400" dirty="0"/>
              <a:t>SELECT o. Route _ID ,</a:t>
            </a:r>
          </a:p>
          <a:p>
            <a:pPr marL="0" indent="0">
              <a:buNone/>
            </a:pPr>
            <a:r>
              <a:rPr lang="en-IN" sz="1400" dirty="0"/>
              <a:t>(SUM(CASE WHEN o. Delivery _Status= 'Delayed' THEN 1 ELSE 0 END) * 100.0 / COUNT(*)) AS Delayed _Shipment _Percentage ,</a:t>
            </a:r>
          </a:p>
          <a:p>
            <a:pPr marL="0" indent="0">
              <a:buNone/>
            </a:pPr>
            <a:r>
              <a:rPr lang="en-IN" sz="1400" dirty="0"/>
              <a:t>(r. Distance _KM * 1.0 / r. Average _Travel _Time _Min ) AS Efficiency _Ratio ,r. Traffic _Delay _Min</a:t>
            </a:r>
          </a:p>
          <a:p>
            <a:pPr marL="0" indent="0">
              <a:buNone/>
            </a:pPr>
            <a:r>
              <a:rPr lang="en-IN" sz="1400" dirty="0"/>
              <a:t>FROM Orders o </a:t>
            </a:r>
          </a:p>
          <a:p>
            <a:pPr marL="0" indent="0">
              <a:buNone/>
            </a:pPr>
            <a:r>
              <a:rPr lang="en-IN" sz="1400" dirty="0"/>
              <a:t>JOIN Routes r ON o. Route _ID= r. Route _ID </a:t>
            </a:r>
          </a:p>
          <a:p>
            <a:pPr marL="0" indent="0">
              <a:buNone/>
            </a:pPr>
            <a:r>
              <a:rPr lang="en-IN" sz="1400" dirty="0"/>
              <a:t>GROUP BY o. Route _ID, r. Distance _KM, r. Average _Travel _Time _Min , r. Traffic _Delay _ Min</a:t>
            </a:r>
          </a:p>
          <a:p>
            <a:pPr marL="0" indent="0">
              <a:buNone/>
            </a:pPr>
            <a:r>
              <a:rPr lang="en-IN" sz="1400" dirty="0"/>
              <a:t>HAVING (SUM(CASE WHEN o. Delivery _Status= 'Delayed' THEN 1 ELSE 0 END) * 100.0 / COUNT(*)) &gt; 20</a:t>
            </a:r>
          </a:p>
          <a:p>
            <a:pPr marL="0" indent="0">
              <a:buNone/>
            </a:pPr>
            <a:r>
              <a:rPr lang="en-IN" sz="1400" dirty="0"/>
              <a:t>ORDER BY Delayed _Shipment _Percentage DESC, Efficiency _Ratio ASC;</a:t>
            </a:r>
          </a:p>
        </p:txBody>
      </p:sp>
    </p:spTree>
    <p:extLst>
      <p:ext uri="{BB962C8B-B14F-4D97-AF65-F5344CB8AC3E}">
        <p14:creationId xmlns:p14="http://schemas.microsoft.com/office/powerpoint/2010/main" val="225537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6219-CEB9-6CDF-1028-42ECFBF4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Recommend potential routes for optimization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E0451F8-9DA2-2C76-7265-0587D0C20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259574"/>
              </p:ext>
            </p:extLst>
          </p:nvPr>
        </p:nvGraphicFramePr>
        <p:xfrm>
          <a:off x="6607276" y="2222090"/>
          <a:ext cx="5122608" cy="4072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801">
                  <a:extLst>
                    <a:ext uri="{9D8B030D-6E8A-4147-A177-3AD203B41FA5}">
                      <a16:colId xmlns:a16="http://schemas.microsoft.com/office/drawing/2014/main" val="301311509"/>
                    </a:ext>
                  </a:extLst>
                </a:gridCol>
                <a:gridCol w="2009352">
                  <a:extLst>
                    <a:ext uri="{9D8B030D-6E8A-4147-A177-3AD203B41FA5}">
                      <a16:colId xmlns:a16="http://schemas.microsoft.com/office/drawing/2014/main" val="2235043250"/>
                    </a:ext>
                  </a:extLst>
                </a:gridCol>
                <a:gridCol w="1128710">
                  <a:extLst>
                    <a:ext uri="{9D8B030D-6E8A-4147-A177-3AD203B41FA5}">
                      <a16:colId xmlns:a16="http://schemas.microsoft.com/office/drawing/2014/main" val="4005031592"/>
                    </a:ext>
                  </a:extLst>
                </a:gridCol>
                <a:gridCol w="1252745">
                  <a:extLst>
                    <a:ext uri="{9D8B030D-6E8A-4147-A177-3AD203B41FA5}">
                      <a16:colId xmlns:a16="http://schemas.microsoft.com/office/drawing/2014/main" val="427652829"/>
                    </a:ext>
                  </a:extLst>
                </a:gridCol>
              </a:tblGrid>
              <a:tr h="3572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Route_ID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Delayed_Shipment_Percentage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Efficiency_Ratio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Traffic_Delay_Min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657541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70.58824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0.550292398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5429170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66.66667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0.903636364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0817123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57.14286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935163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52.94118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0.9325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6205922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0.300869565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51663987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4.278125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61245108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46.66667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0.37382199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8743036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0.668604651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5611330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0.955617978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7712742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0.282509506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0677728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0.536603774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4631132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0.581578947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9141721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0.613679245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91923253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38.46154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2.278181818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27982487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0.604784689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1469066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36.36364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0.160655738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2845147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31.81818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2.156179775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7385305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0.24372093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99717504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30.76923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3.769387755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93330396"/>
                  </a:ext>
                </a:extLst>
              </a:tr>
              <a:tr h="1857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0.151204819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90670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BEDC7D97-8761-B5B7-89F0-86BCF7A55D3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4437669"/>
                  </p:ext>
                </p:extLst>
              </p:nvPr>
            </p:nvGraphicFramePr>
            <p:xfrm>
              <a:off x="5761703" y="2331850"/>
              <a:ext cx="5510981" cy="390848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ontent Placeholder 3">
                <a:extLst>
                  <a:ext uri="{FF2B5EF4-FFF2-40B4-BE49-F238E27FC236}">
                    <a16:creationId xmlns:a16="http://schemas.microsoft.com/office/drawing/2014/main" id="{BEDC7D97-8761-B5B7-89F0-86BCF7A55D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1703" y="2331850"/>
                <a:ext cx="5510981" cy="3908482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9E55150-6690-8FF9-B4CA-E1B6B9427D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037033"/>
              </p:ext>
            </p:extLst>
          </p:nvPr>
        </p:nvGraphicFramePr>
        <p:xfrm>
          <a:off x="685799" y="2499850"/>
          <a:ext cx="5636343" cy="3517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68817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42FB-E45C-1169-7A1F-934AFA66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Task 4: Warehouse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1992D-E7CC-34DD-F4CE-6F246B50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top 3 warehouses with the highest average processing time.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warehouse _ID, </a:t>
            </a:r>
          </a:p>
          <a:p>
            <a:pPr marL="0" indent="0">
              <a:buNone/>
            </a:pPr>
            <a:r>
              <a:rPr lang="en-US" sz="1800" dirty="0"/>
              <a:t>AVG(processing _time _min ) AS avg _processing _time _min</a:t>
            </a:r>
          </a:p>
          <a:p>
            <a:pPr marL="0" indent="0">
              <a:buNone/>
            </a:pPr>
            <a:r>
              <a:rPr lang="en-US" sz="1800" dirty="0"/>
              <a:t>FROM warehouses</a:t>
            </a:r>
          </a:p>
          <a:p>
            <a:pPr marL="0" indent="0">
              <a:buNone/>
            </a:pPr>
            <a:r>
              <a:rPr lang="en-US" sz="1800" dirty="0"/>
              <a:t>GROUP BY warehouse _id</a:t>
            </a:r>
          </a:p>
          <a:p>
            <a:pPr marL="0" indent="0">
              <a:buNone/>
            </a:pPr>
            <a:r>
              <a:rPr lang="en-US" sz="1800" dirty="0"/>
              <a:t>ORDER BY avg _processing _time _</a:t>
            </a:r>
            <a:r>
              <a:rPr lang="en-US" sz="1800" dirty="0" err="1"/>
              <a:t>minDESC</a:t>
            </a:r>
            <a:r>
              <a:rPr lang="en-US" sz="1800" dirty="0"/>
              <a:t> LIMIT 3;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27638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DBFB-6B8F-45EE-4A60-D0D968FE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dirty="0"/>
              <a:t>Find the top 3 warehouses with the highest average processing time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91C483-D597-0E11-44B2-B33008718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782825"/>
              </p:ext>
            </p:extLst>
          </p:nvPr>
        </p:nvGraphicFramePr>
        <p:xfrm>
          <a:off x="6764594" y="3429000"/>
          <a:ext cx="3687096" cy="19295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041">
                  <a:extLst>
                    <a:ext uri="{9D8B030D-6E8A-4147-A177-3AD203B41FA5}">
                      <a16:colId xmlns:a16="http://schemas.microsoft.com/office/drawing/2014/main" val="2815209558"/>
                    </a:ext>
                  </a:extLst>
                </a:gridCol>
                <a:gridCol w="2296055">
                  <a:extLst>
                    <a:ext uri="{9D8B030D-6E8A-4147-A177-3AD203B41FA5}">
                      <a16:colId xmlns:a16="http://schemas.microsoft.com/office/drawing/2014/main" val="153957054"/>
                    </a:ext>
                  </a:extLst>
                </a:gridCol>
              </a:tblGrid>
              <a:tr h="7421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avg_processing_time_min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3402253"/>
                  </a:ext>
                </a:extLst>
              </a:tr>
              <a:tr h="395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6559927"/>
                  </a:ext>
                </a:extLst>
              </a:tr>
              <a:tr h="395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91763369"/>
                  </a:ext>
                </a:extLst>
              </a:tr>
              <a:tr h="395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166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98905996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A1BA23F-39A5-6DCA-C580-B953A97405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8863364"/>
              </p:ext>
            </p:extLst>
          </p:nvPr>
        </p:nvGraphicFramePr>
        <p:xfrm>
          <a:off x="1524000" y="2615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5645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F7CE-8899-9784-A4C5-4E65A010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4: Warehouse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5E30-B7D7-A47B-A8D4-373A7ECB4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Calculate total vs. delayed shipments for each warehouse.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Warehouse _ID ,</a:t>
            </a:r>
          </a:p>
          <a:p>
            <a:pPr marL="0" indent="0">
              <a:buNone/>
            </a:pPr>
            <a:r>
              <a:rPr lang="en-US" sz="1800" dirty="0"/>
              <a:t>COUNT(Order _ID) AS Total _Shipments, </a:t>
            </a:r>
          </a:p>
          <a:p>
            <a:pPr marL="0" indent="0">
              <a:buNone/>
            </a:pPr>
            <a:r>
              <a:rPr lang="en-US" sz="1800" dirty="0"/>
              <a:t>SUM(CASE WHEN Delivery _Status= 'Delayed' THEN 1 ELSE 0 END) AS Delayed _Shipments</a:t>
            </a:r>
          </a:p>
          <a:p>
            <a:pPr marL="0" indent="0">
              <a:buNone/>
            </a:pPr>
            <a:r>
              <a:rPr lang="en-US" sz="1800" dirty="0"/>
              <a:t>FROM Orders AS o</a:t>
            </a:r>
          </a:p>
          <a:p>
            <a:pPr marL="0" indent="0">
              <a:buNone/>
            </a:pPr>
            <a:r>
              <a:rPr lang="en-US" sz="1800" dirty="0"/>
              <a:t>GROUP BY o. Warehouse _ID</a:t>
            </a:r>
          </a:p>
          <a:p>
            <a:pPr marL="0" indent="0">
              <a:buNone/>
            </a:pPr>
            <a:r>
              <a:rPr lang="en-US" sz="1800" dirty="0"/>
              <a:t>ORDER BY Delayed _Shipments DESC;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65524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26701-D89D-C4A7-7B0F-2208AB7E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Calculate total vs. delayed shipments for each warehouse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47B505-8CE1-D65C-E9CB-359B5E3673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01677"/>
              </p:ext>
            </p:extLst>
          </p:nvPr>
        </p:nvGraphicFramePr>
        <p:xfrm>
          <a:off x="7521676" y="2733368"/>
          <a:ext cx="4395021" cy="2920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7142">
                  <a:extLst>
                    <a:ext uri="{9D8B030D-6E8A-4147-A177-3AD203B41FA5}">
                      <a16:colId xmlns:a16="http://schemas.microsoft.com/office/drawing/2014/main" val="1602157576"/>
                    </a:ext>
                  </a:extLst>
                </a:gridCol>
                <a:gridCol w="1434486">
                  <a:extLst>
                    <a:ext uri="{9D8B030D-6E8A-4147-A177-3AD203B41FA5}">
                      <a16:colId xmlns:a16="http://schemas.microsoft.com/office/drawing/2014/main" val="1391594416"/>
                    </a:ext>
                  </a:extLst>
                </a:gridCol>
                <a:gridCol w="1663393">
                  <a:extLst>
                    <a:ext uri="{9D8B030D-6E8A-4147-A177-3AD203B41FA5}">
                      <a16:colId xmlns:a16="http://schemas.microsoft.com/office/drawing/2014/main" val="3681779383"/>
                    </a:ext>
                  </a:extLst>
                </a:gridCol>
              </a:tblGrid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Total_Shipments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Delayed_Shipments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7137574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10453720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8030766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1193637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312241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5152236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66428905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4810974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39913329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5348727"/>
                  </a:ext>
                </a:extLst>
              </a:tr>
              <a:tr h="2654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016998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4F6A92E-15AD-0910-9047-5CCE26E0F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8707223"/>
              </p:ext>
            </p:extLst>
          </p:nvPr>
        </p:nvGraphicFramePr>
        <p:xfrm>
          <a:off x="1101213" y="2608005"/>
          <a:ext cx="5830529" cy="3586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7967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29CA-8CE5-532A-0212-39F1AF14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4: Warehouse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C590D-9965-670D-D711-9148140A1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CTEs to find bottleneck warehouses where processing time &gt; global average.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WITH Global _Avg AS (</a:t>
            </a:r>
          </a:p>
          <a:p>
            <a:pPr marL="0" indent="0">
              <a:buNone/>
            </a:pPr>
            <a:r>
              <a:rPr lang="en-US" sz="1700" dirty="0"/>
              <a:t>SELECT AVG(Processing _Time _Min) AS Global _Avg _Time</a:t>
            </a:r>
          </a:p>
          <a:p>
            <a:pPr marL="0" indent="0">
              <a:buNone/>
            </a:pPr>
            <a:r>
              <a:rPr lang="en-US" sz="1700" dirty="0"/>
              <a:t>FROM Warehouses)</a:t>
            </a:r>
          </a:p>
          <a:p>
            <a:pPr marL="0" indent="0">
              <a:buNone/>
            </a:pPr>
            <a:r>
              <a:rPr lang="en-US" sz="1700" dirty="0"/>
              <a:t>SELECTw.Warehouse_ID,w.Location,w.Processing_Time_Min,ga.Global_Avg_Time</a:t>
            </a:r>
          </a:p>
          <a:p>
            <a:pPr marL="0" indent="0">
              <a:buNone/>
            </a:pPr>
            <a:r>
              <a:rPr lang="en-US" sz="1700" dirty="0"/>
              <a:t>FROM Warehouses AS w</a:t>
            </a:r>
          </a:p>
          <a:p>
            <a:pPr marL="0" indent="0">
              <a:buNone/>
            </a:pPr>
            <a:r>
              <a:rPr lang="en-US" sz="1700" dirty="0"/>
              <a:t>CROSS JOIN Global _Avg AS ga</a:t>
            </a:r>
          </a:p>
          <a:p>
            <a:pPr marL="0" indent="0">
              <a:buNone/>
            </a:pPr>
            <a:r>
              <a:rPr lang="en-US" sz="1700" dirty="0"/>
              <a:t>WHERE w. Processing _Time _Min &gt; ga .Global _Avg _Time</a:t>
            </a:r>
          </a:p>
          <a:p>
            <a:pPr marL="0" indent="0">
              <a:buNone/>
            </a:pPr>
            <a:r>
              <a:rPr lang="en-US" sz="1700" dirty="0"/>
              <a:t>ORDER BY w. Processing _Time _Min DESC;</a:t>
            </a:r>
          </a:p>
        </p:txBody>
      </p:sp>
    </p:spTree>
    <p:extLst>
      <p:ext uri="{BB962C8B-B14F-4D97-AF65-F5344CB8AC3E}">
        <p14:creationId xmlns:p14="http://schemas.microsoft.com/office/powerpoint/2010/main" val="620881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8E868-6256-0B53-C747-35E01068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dirty="0"/>
              <a:t>Use CTEs to find bottleneck warehouses where processing time &gt; global average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45495B-A45A-12C4-090C-2328A5F21C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60389"/>
              </p:ext>
            </p:extLst>
          </p:nvPr>
        </p:nvGraphicFramePr>
        <p:xfrm>
          <a:off x="6833419" y="2605548"/>
          <a:ext cx="5014452" cy="38149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335">
                  <a:extLst>
                    <a:ext uri="{9D8B030D-6E8A-4147-A177-3AD203B41FA5}">
                      <a16:colId xmlns:a16="http://schemas.microsoft.com/office/drawing/2014/main" val="1542683340"/>
                    </a:ext>
                  </a:extLst>
                </a:gridCol>
                <a:gridCol w="1215624">
                  <a:extLst>
                    <a:ext uri="{9D8B030D-6E8A-4147-A177-3AD203B41FA5}">
                      <a16:colId xmlns:a16="http://schemas.microsoft.com/office/drawing/2014/main" val="1498707295"/>
                    </a:ext>
                  </a:extLst>
                </a:gridCol>
                <a:gridCol w="1494205">
                  <a:extLst>
                    <a:ext uri="{9D8B030D-6E8A-4147-A177-3AD203B41FA5}">
                      <a16:colId xmlns:a16="http://schemas.microsoft.com/office/drawing/2014/main" val="2437687038"/>
                    </a:ext>
                  </a:extLst>
                </a:gridCol>
                <a:gridCol w="1228288">
                  <a:extLst>
                    <a:ext uri="{9D8B030D-6E8A-4147-A177-3AD203B41FA5}">
                      <a16:colId xmlns:a16="http://schemas.microsoft.com/office/drawing/2014/main" val="109248333"/>
                    </a:ext>
                  </a:extLst>
                </a:gridCol>
              </a:tblGrid>
              <a:tr h="11741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Location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Processing_Time_Min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Global_Avg_Time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5118093"/>
                  </a:ext>
                </a:extLst>
              </a:tr>
              <a:tr h="449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Davidshire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2646323"/>
                  </a:ext>
                </a:extLst>
              </a:tr>
              <a:tr h="84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W009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Crystalborough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25317995"/>
                  </a:ext>
                </a:extLst>
              </a:tr>
              <a:tr h="449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Port Juliachester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69799552"/>
                  </a:ext>
                </a:extLst>
              </a:tr>
              <a:tr h="449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Andersontown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558076"/>
                  </a:ext>
                </a:extLst>
              </a:tr>
              <a:tr h="449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Zacharyland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110.1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0840136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5411BF0-D6CB-CA83-E4F7-8D9A33B66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202809"/>
              </p:ext>
            </p:extLst>
          </p:nvPr>
        </p:nvGraphicFramePr>
        <p:xfrm>
          <a:off x="245806" y="2202427"/>
          <a:ext cx="6371304" cy="4090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4386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0532-1CE0-6079-7D54-962E711C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Task 4: Warehouse Performance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B9812-7409-BB73-8CA9-F914BA063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Rank warehouses based on on-time delivery percentage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Warehouse _ID, On _Time _Percentage,</a:t>
            </a:r>
          </a:p>
          <a:p>
            <a:pPr marL="0" indent="0">
              <a:buNone/>
            </a:pPr>
            <a:r>
              <a:rPr lang="en-US" sz="1800" dirty="0"/>
              <a:t>RANK() OVER (ORDER BY On _Time _Percentage DESC) AS On _Time _Rank</a:t>
            </a:r>
          </a:p>
          <a:p>
            <a:pPr marL="0" indent="0">
              <a:buNone/>
            </a:pPr>
            <a:r>
              <a:rPr lang="en-US" sz="1800" dirty="0"/>
              <a:t>FROM (SELECT Warehouse _ID,</a:t>
            </a:r>
          </a:p>
          <a:p>
            <a:pPr marL="0" indent="0">
              <a:buNone/>
            </a:pPr>
            <a:r>
              <a:rPr lang="en-US" sz="1800" dirty="0"/>
              <a:t>(CAST(SUM(CASE WHEN Delivery _Status = 'On Time' THEN 1 ELSE 0 END) AS REAL) * 100.0) / COUNT(Order _ID) AS On _Time _Percentage</a:t>
            </a:r>
          </a:p>
          <a:p>
            <a:pPr marL="0" indent="0">
              <a:buNone/>
            </a:pPr>
            <a:r>
              <a:rPr lang="en-US" sz="1800" dirty="0"/>
              <a:t>FROM Orders</a:t>
            </a:r>
          </a:p>
          <a:p>
            <a:pPr marL="0" indent="0">
              <a:buNone/>
            </a:pPr>
            <a:r>
              <a:rPr lang="en-US" sz="1800" dirty="0"/>
              <a:t>GROUP BY Warehouse _ID) AS Warehouse _Performance</a:t>
            </a:r>
          </a:p>
          <a:p>
            <a:pPr marL="0" indent="0">
              <a:buNone/>
            </a:pPr>
            <a:r>
              <a:rPr lang="en-US" sz="1800" dirty="0"/>
              <a:t>ORDER BY On _Time _Rank;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99870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2133-5A6A-7062-D6B3-899D76C9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087" y="577560"/>
            <a:ext cx="8610600" cy="1293028"/>
          </a:xfrm>
        </p:spPr>
        <p:txBody>
          <a:bodyPr>
            <a:normAutofit/>
          </a:bodyPr>
          <a:lstStyle/>
          <a:p>
            <a:r>
              <a:rPr lang="en-US" sz="2000" dirty="0"/>
              <a:t>Rank warehouses based on on-time delivery percentage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86E342-E5EC-7471-21ED-464A7B99A6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31603"/>
              </p:ext>
            </p:extLst>
          </p:nvPr>
        </p:nvGraphicFramePr>
        <p:xfrm>
          <a:off x="7128387" y="2057401"/>
          <a:ext cx="4552336" cy="33145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3571">
                  <a:extLst>
                    <a:ext uri="{9D8B030D-6E8A-4147-A177-3AD203B41FA5}">
                      <a16:colId xmlns:a16="http://schemas.microsoft.com/office/drawing/2014/main" val="3141279810"/>
                    </a:ext>
                  </a:extLst>
                </a:gridCol>
                <a:gridCol w="1833580">
                  <a:extLst>
                    <a:ext uri="{9D8B030D-6E8A-4147-A177-3AD203B41FA5}">
                      <a16:colId xmlns:a16="http://schemas.microsoft.com/office/drawing/2014/main" val="3649608487"/>
                    </a:ext>
                  </a:extLst>
                </a:gridCol>
                <a:gridCol w="1375185">
                  <a:extLst>
                    <a:ext uri="{9D8B030D-6E8A-4147-A177-3AD203B41FA5}">
                      <a16:colId xmlns:a16="http://schemas.microsoft.com/office/drawing/2014/main" val="1027939513"/>
                    </a:ext>
                  </a:extLst>
                </a:gridCol>
              </a:tblGrid>
              <a:tr h="5233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On_Time_Percentage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On_Time_Rank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37223904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76.19047619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4672085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67.56756757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66952204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64.28571429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3133358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61.29032258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6365280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60.60606061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63316105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60.52631579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6626600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47.05882353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96421262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6068877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43.47826087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74328992"/>
                  </a:ext>
                </a:extLst>
              </a:tr>
              <a:tr h="2791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33.33333333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5864264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38E2D56-CE39-B2F2-4478-2164A0E468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6531561"/>
              </p:ext>
            </p:extLst>
          </p:nvPr>
        </p:nvGraphicFramePr>
        <p:xfrm>
          <a:off x="383458" y="2343069"/>
          <a:ext cx="6263148" cy="3575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6086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CF91-898F-D709-2C89-11883388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C8227-B125-DA58-2FA5-1BA8C1FC1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 agents (per route) by on-time delivery percentage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Agent _ID, Route _ID, On _Time _Percentage,</a:t>
            </a:r>
          </a:p>
          <a:p>
            <a:pPr marL="0" indent="0">
              <a:buNone/>
            </a:pPr>
            <a:r>
              <a:rPr lang="en-US" sz="1800" dirty="0"/>
              <a:t>RANK() OVER (PARTITION BY Route _ID </a:t>
            </a:r>
          </a:p>
          <a:p>
            <a:pPr marL="0" indent="0">
              <a:buNone/>
            </a:pPr>
            <a:r>
              <a:rPr lang="en-US" sz="1800" dirty="0"/>
              <a:t>ORDER BY On _Time _Percentage DESC) AS Route _On _Time _Rank</a:t>
            </a:r>
          </a:p>
          <a:p>
            <a:pPr marL="0" indent="0">
              <a:buNone/>
            </a:pPr>
            <a:r>
              <a:rPr lang="en-US" sz="1800" dirty="0"/>
              <a:t>FROM Delivery Agents</a:t>
            </a:r>
          </a:p>
          <a:p>
            <a:pPr marL="0" indent="0">
              <a:buNone/>
            </a:pPr>
            <a:r>
              <a:rPr lang="en-US" sz="1800" dirty="0"/>
              <a:t>ORDER BY Route _ID, Route _On _Time _Rank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027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0402-3141-725D-520C-F1C91378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Rank agents (per route) by on-time delivery percentage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865CEF-A8EF-F62B-12EC-CDB087C85E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92672"/>
              </p:ext>
            </p:extLst>
          </p:nvPr>
        </p:nvGraphicFramePr>
        <p:xfrm>
          <a:off x="685800" y="2193925"/>
          <a:ext cx="10591800" cy="402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18640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898F-26B4-7040-59FA-6627BDC8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5B4F-729F-F866-4AFA-FD85658CE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agents with on-time % &lt; 80%.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Agent _ID, Route _ID, On _Time _Percentage</a:t>
            </a:r>
          </a:p>
          <a:p>
            <a:pPr marL="0" indent="0">
              <a:buNone/>
            </a:pPr>
            <a:r>
              <a:rPr lang="en-US" sz="1800" dirty="0"/>
              <a:t>FROM Delivery Agents</a:t>
            </a:r>
          </a:p>
          <a:p>
            <a:pPr marL="0" indent="0">
              <a:buNone/>
            </a:pPr>
            <a:r>
              <a:rPr lang="en-US" sz="1800" dirty="0"/>
              <a:t>WHERE On _Time _Percentage &lt; 80.0</a:t>
            </a:r>
          </a:p>
          <a:p>
            <a:pPr marL="0" indent="0">
              <a:buNone/>
            </a:pPr>
            <a:r>
              <a:rPr lang="en-US" sz="1800" dirty="0"/>
              <a:t>ORDER BY On _Time _Percentage ASC;</a:t>
            </a:r>
          </a:p>
        </p:txBody>
      </p:sp>
    </p:spTree>
    <p:extLst>
      <p:ext uri="{BB962C8B-B14F-4D97-AF65-F5344CB8AC3E}">
        <p14:creationId xmlns:p14="http://schemas.microsoft.com/office/powerpoint/2010/main" val="1445079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A1CD-6EF3-1E86-DC3C-76526297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agents with on-time % &lt; 80%.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3B3E5C-CC65-9D27-C6A7-41AB24C78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572338"/>
              </p:ext>
            </p:extLst>
          </p:nvPr>
        </p:nvGraphicFramePr>
        <p:xfrm>
          <a:off x="8975623" y="2214962"/>
          <a:ext cx="2971800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403821377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403359966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852281756"/>
                    </a:ext>
                  </a:extLst>
                </a:gridCol>
              </a:tblGrid>
              <a:tr h="1483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Agent_ID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On_Time_Percentage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929516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70.45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010862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71.5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145840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71.8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904140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72.39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8487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321268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82387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73.21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346892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73.8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76791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383965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020576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89300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92542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75.46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18807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76.6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94506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772520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77.83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001053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77.92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85343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78.39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48703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78.94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54799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79.51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6662229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A237BC1-38CA-4639-7AB4-97E657043A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3289757"/>
              </p:ext>
            </p:extLst>
          </p:nvPr>
        </p:nvGraphicFramePr>
        <p:xfrm>
          <a:off x="930377" y="2362200"/>
          <a:ext cx="7023920" cy="4176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8076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0079-2689-0C24-4C9B-7E1A8FE4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CDC33-F666-2E29-BCF8-BE444968C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Compare average speed of top 5 vs bottom 5 agents using subqueries.</a:t>
            </a:r>
          </a:p>
          <a:p>
            <a:pPr marL="0" indent="0">
              <a:buNone/>
            </a:pPr>
            <a:r>
              <a:rPr lang="en-IN" sz="1400" dirty="0"/>
              <a:t>SELECT 'Top 5 Agents' AS Agent _Group,(</a:t>
            </a:r>
          </a:p>
          <a:p>
            <a:pPr marL="0" indent="0">
              <a:buNone/>
            </a:pPr>
            <a:r>
              <a:rPr lang="en-IN" sz="1400" dirty="0"/>
              <a:t>SELECT AVG(</a:t>
            </a:r>
            <a:r>
              <a:rPr lang="en-IN" sz="1400" dirty="0" err="1"/>
              <a:t>Avg</a:t>
            </a:r>
            <a:r>
              <a:rPr lang="en-IN" sz="1400" dirty="0"/>
              <a:t> _Speed _KM _HR)</a:t>
            </a:r>
          </a:p>
          <a:p>
            <a:pPr marL="0" indent="0">
              <a:buNone/>
            </a:pPr>
            <a:r>
              <a:rPr lang="en-IN" sz="1400" dirty="0"/>
              <a:t>FROM (SELECT </a:t>
            </a:r>
            <a:r>
              <a:rPr lang="en-IN" sz="1400" dirty="0" err="1"/>
              <a:t>Avg</a:t>
            </a:r>
            <a:r>
              <a:rPr lang="en-IN" sz="1400" dirty="0"/>
              <a:t> _Speed _KM _HR</a:t>
            </a:r>
          </a:p>
          <a:p>
            <a:pPr marL="0" indent="0">
              <a:buNone/>
            </a:pPr>
            <a:r>
              <a:rPr lang="en-IN" sz="1400" dirty="0"/>
              <a:t>FROM Delivery Agents</a:t>
            </a:r>
          </a:p>
          <a:p>
            <a:pPr marL="0" indent="0">
              <a:buNone/>
            </a:pPr>
            <a:r>
              <a:rPr lang="en-IN" sz="1400" dirty="0"/>
              <a:t>ORDER BY On _Time _Percentage DESC LIMIT 5) AS Top _Agents) AS Average _Speed _KM _HR</a:t>
            </a:r>
          </a:p>
          <a:p>
            <a:pPr marL="0" indent="0">
              <a:buNone/>
            </a:pPr>
            <a:r>
              <a:rPr lang="en-IN" sz="1400" dirty="0"/>
              <a:t>UNION ALL</a:t>
            </a:r>
          </a:p>
          <a:p>
            <a:pPr marL="0" indent="0">
              <a:buNone/>
            </a:pPr>
            <a:r>
              <a:rPr lang="en-IN" sz="1400" dirty="0"/>
              <a:t>SELECT 'Bottom 5 Agents' AS Agent _Group,(</a:t>
            </a:r>
          </a:p>
          <a:p>
            <a:pPr marL="0" indent="0">
              <a:buNone/>
            </a:pPr>
            <a:r>
              <a:rPr lang="en-IN" sz="1400" dirty="0"/>
              <a:t>SELECT AVG( </a:t>
            </a:r>
            <a:r>
              <a:rPr lang="en-IN" sz="1400" dirty="0" err="1"/>
              <a:t>Avg</a:t>
            </a:r>
            <a:r>
              <a:rPr lang="en-IN" sz="1400" dirty="0"/>
              <a:t> _Speed _KM _HR)</a:t>
            </a:r>
          </a:p>
          <a:p>
            <a:pPr marL="0" indent="0">
              <a:buNone/>
            </a:pPr>
            <a:r>
              <a:rPr lang="en-IN" sz="1400" dirty="0"/>
              <a:t>FROM (SELECT </a:t>
            </a:r>
            <a:r>
              <a:rPr lang="en-IN" sz="1400" dirty="0" err="1"/>
              <a:t>Avg</a:t>
            </a:r>
            <a:r>
              <a:rPr lang="en-IN" sz="1400" dirty="0"/>
              <a:t> _Speed _KM _HR</a:t>
            </a:r>
          </a:p>
          <a:p>
            <a:pPr marL="0" indent="0">
              <a:buNone/>
            </a:pPr>
            <a:r>
              <a:rPr lang="en-IN" sz="1400" dirty="0"/>
              <a:t>FROM Delivery Agents</a:t>
            </a:r>
          </a:p>
          <a:p>
            <a:pPr marL="0" indent="0">
              <a:buNone/>
            </a:pPr>
            <a:r>
              <a:rPr lang="en-IN" sz="1400" dirty="0"/>
              <a:t>ORDER BY On _Time _Percentage ASC LIMIT 5) AS Bottom _Agents) AS Average _Speed _KM _HR;</a:t>
            </a:r>
          </a:p>
        </p:txBody>
      </p:sp>
    </p:spTree>
    <p:extLst>
      <p:ext uri="{BB962C8B-B14F-4D97-AF65-F5344CB8AC3E}">
        <p14:creationId xmlns:p14="http://schemas.microsoft.com/office/powerpoint/2010/main" val="2059791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10B6-944B-D2D1-25A0-0FBD5CD9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Compare average speed of top 5 vs bottom 5 agents using subqueries.</a:t>
            </a:r>
            <a:endParaRPr lang="en-IN" sz="1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F776D0-ECC5-0FFB-B878-C6D5D866E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256864"/>
              </p:ext>
            </p:extLst>
          </p:nvPr>
        </p:nvGraphicFramePr>
        <p:xfrm>
          <a:off x="8229600" y="2476586"/>
          <a:ext cx="3031613" cy="1495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430">
                  <a:extLst>
                    <a:ext uri="{9D8B030D-6E8A-4147-A177-3AD203B41FA5}">
                      <a16:colId xmlns:a16="http://schemas.microsoft.com/office/drawing/2014/main" val="732706713"/>
                    </a:ext>
                  </a:extLst>
                </a:gridCol>
                <a:gridCol w="1880183">
                  <a:extLst>
                    <a:ext uri="{9D8B030D-6E8A-4147-A177-3AD203B41FA5}">
                      <a16:colId xmlns:a16="http://schemas.microsoft.com/office/drawing/2014/main" val="2151723358"/>
                    </a:ext>
                  </a:extLst>
                </a:gridCol>
              </a:tblGrid>
              <a:tr h="590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Agent_Group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Average_Speed_KM_HR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8891381"/>
                  </a:ext>
                </a:extLst>
              </a:tr>
              <a:tr h="3148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Top 5 Agents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7794023"/>
                  </a:ext>
                </a:extLst>
              </a:tr>
              <a:tr h="590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Bottom 5 Agents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56.8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1070138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C483004-E329-952C-89CD-58DA5D3335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1659939"/>
              </p:ext>
            </p:extLst>
          </p:nvPr>
        </p:nvGraphicFramePr>
        <p:xfrm>
          <a:off x="1676401" y="247658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51617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0ABE-1B33-ED9E-3192-F234648A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DE076-33A0-9CC6-0685-9FD6596D7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order, list the last checkpoint and time.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T1.Order_ID,T1.Checkpoint,T1.Checkpoint_Time</a:t>
            </a:r>
          </a:p>
          <a:p>
            <a:pPr marL="0" indent="0">
              <a:buNone/>
            </a:pPr>
            <a:r>
              <a:rPr lang="en-US" sz="1600" dirty="0"/>
              <a:t>FROM Shipment AS T1</a:t>
            </a:r>
          </a:p>
          <a:p>
            <a:pPr marL="0" indent="0">
              <a:buNone/>
            </a:pPr>
            <a:r>
              <a:rPr lang="en-US" sz="1600" dirty="0"/>
              <a:t>INNER JOIN (</a:t>
            </a:r>
          </a:p>
          <a:p>
            <a:pPr marL="0" indent="0">
              <a:buNone/>
            </a:pPr>
            <a:r>
              <a:rPr lang="en-US" sz="1600" dirty="0"/>
              <a:t>SELECT Order _ID, MAX(Checkpoint _Time) AS Last _Time</a:t>
            </a:r>
          </a:p>
          <a:p>
            <a:pPr marL="0" indent="0">
              <a:buNone/>
            </a:pPr>
            <a:r>
              <a:rPr lang="en-US" sz="1600" dirty="0"/>
              <a:t>FROM Shipment</a:t>
            </a:r>
          </a:p>
          <a:p>
            <a:pPr marL="0" indent="0">
              <a:buNone/>
            </a:pPr>
            <a:r>
              <a:rPr lang="en-US" sz="1600" dirty="0"/>
              <a:t>GROUP BY Order _ID )AS T2 ON T1.Order_ID = T2.Order_ID </a:t>
            </a:r>
          </a:p>
          <a:p>
            <a:pPr marL="0" indent="0">
              <a:buNone/>
            </a:pPr>
            <a:r>
              <a:rPr lang="en-US" sz="1600" dirty="0"/>
              <a:t>AND T1.Checkpoint_Time = T2.Last_Time;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20404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01D1-55B2-E4D7-CB53-43F4FD791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For each order, list the last checkpoint and time</a:t>
            </a:r>
            <a:endParaRPr lang="en-IN" sz="1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1642D-239B-A076-25AB-2636739F8F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93925"/>
          <a:ext cx="10820400" cy="402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31666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36D0-6EAD-0412-42FF-EFBB0AAA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827CA-5DA4-0917-046F-1B03E9C9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most common delay reasons (excluding None)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Delay _Reason,</a:t>
            </a:r>
          </a:p>
          <a:p>
            <a:pPr marL="0" indent="0">
              <a:buNone/>
            </a:pPr>
            <a:r>
              <a:rPr lang="en-US" sz="1600" dirty="0"/>
              <a:t>COUNT(Delay _Reason) AS Delay _Count</a:t>
            </a:r>
          </a:p>
          <a:p>
            <a:pPr marL="0" indent="0">
              <a:buNone/>
            </a:pPr>
            <a:r>
              <a:rPr lang="en-US" sz="1600" dirty="0"/>
              <a:t>FROM Shipment</a:t>
            </a:r>
          </a:p>
          <a:p>
            <a:pPr marL="0" indent="0">
              <a:buNone/>
            </a:pPr>
            <a:r>
              <a:rPr lang="en-US" sz="1600" dirty="0"/>
              <a:t>WHERE Delay _Reason IS NOT NULL</a:t>
            </a:r>
          </a:p>
          <a:p>
            <a:pPr marL="0" indent="0">
              <a:buNone/>
            </a:pPr>
            <a:r>
              <a:rPr lang="en-US" sz="1600" dirty="0"/>
              <a:t>AND Delay _Reason &lt;&gt; 'None’</a:t>
            </a:r>
          </a:p>
          <a:p>
            <a:pPr marL="0" indent="0">
              <a:buNone/>
            </a:pPr>
            <a:r>
              <a:rPr lang="en-US" sz="1600" dirty="0"/>
              <a:t>GROUP BY Delay _Reason</a:t>
            </a:r>
          </a:p>
          <a:p>
            <a:pPr marL="0" indent="0">
              <a:buNone/>
            </a:pPr>
            <a:r>
              <a:rPr lang="en-US" sz="1600" dirty="0"/>
              <a:t>ORDER BY Delay _Count DESC;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28656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97B5-13E0-3B4E-3AF9-2B9AE874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Find the most common delay reasons (excluding None)</a:t>
            </a:r>
            <a:endParaRPr lang="en-IN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CAF696-4A54-00D8-D7B0-372970820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95387"/>
              </p:ext>
            </p:extLst>
          </p:nvPr>
        </p:nvGraphicFramePr>
        <p:xfrm>
          <a:off x="9212826" y="2345818"/>
          <a:ext cx="2697931" cy="15280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926">
                  <a:extLst>
                    <a:ext uri="{9D8B030D-6E8A-4147-A177-3AD203B41FA5}">
                      <a16:colId xmlns:a16="http://schemas.microsoft.com/office/drawing/2014/main" val="3359405887"/>
                    </a:ext>
                  </a:extLst>
                </a:gridCol>
                <a:gridCol w="1306005">
                  <a:extLst>
                    <a:ext uri="{9D8B030D-6E8A-4147-A177-3AD203B41FA5}">
                      <a16:colId xmlns:a16="http://schemas.microsoft.com/office/drawing/2014/main" val="1205641604"/>
                    </a:ext>
                  </a:extLst>
                </a:gridCol>
              </a:tblGrid>
              <a:tr h="3820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Delay_Reason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Delay_Count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01448890"/>
                  </a:ext>
                </a:extLst>
              </a:tr>
              <a:tr h="3820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Sorting Delay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6974168"/>
                  </a:ext>
                </a:extLst>
              </a:tr>
              <a:tr h="3820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Weather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3392764"/>
                  </a:ext>
                </a:extLst>
              </a:tr>
              <a:tr h="3820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Traffic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247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496794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212DFF8-4020-2511-9E53-2AB29EE9EA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5838599"/>
              </p:ext>
            </p:extLst>
          </p:nvPr>
        </p:nvGraphicFramePr>
        <p:xfrm>
          <a:off x="2227007" y="250231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1464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A715-40A8-5802-BDE3-C38C9DDF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663E-B5AA-32D1-8E5C-AB5CBAA7B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orders with &gt;2 delayed checkpoints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Order _ID,</a:t>
            </a:r>
          </a:p>
          <a:p>
            <a:pPr marL="0" indent="0">
              <a:buNone/>
            </a:pPr>
            <a:r>
              <a:rPr lang="en-US" sz="1600" dirty="0"/>
              <a:t>COUNT(CASE WHEN Delay _Reason != 'None' THEN 1 END) AS Delayed _Checkpoint _Count</a:t>
            </a:r>
          </a:p>
          <a:p>
            <a:pPr marL="0" indent="0">
              <a:buNone/>
            </a:pPr>
            <a:r>
              <a:rPr lang="en-US" sz="1600" dirty="0"/>
              <a:t>FROM Shipment</a:t>
            </a:r>
          </a:p>
          <a:p>
            <a:pPr marL="0" indent="0">
              <a:buNone/>
            </a:pPr>
            <a:r>
              <a:rPr lang="en-US" sz="1600" dirty="0"/>
              <a:t>GROUP BY Order _ID HAVING Delayed _Checkpoint _Count &gt; 2</a:t>
            </a:r>
          </a:p>
          <a:p>
            <a:pPr marL="0" indent="0">
              <a:buNone/>
            </a:pPr>
            <a:r>
              <a:rPr lang="en-US" sz="1600" dirty="0"/>
              <a:t>ORDER BY Delayed _Checkpoint _Count DESC;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49599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6D81-8224-A18E-9ADE-153160D7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Identify orders with &gt;2 delayed checkpoints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7E8E0D-783C-91F1-2D2B-6ECA295679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93925"/>
          <a:ext cx="10820400" cy="402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83718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80E1-3963-2873-C854-48F49538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5776-ACC7-A4D9-1C44-C00B9E2E6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KPIs using SQL queries:</a:t>
            </a:r>
          </a:p>
          <a:p>
            <a:pPr marL="0" indent="0">
              <a:buNone/>
            </a:pPr>
            <a:r>
              <a:rPr lang="en-US" dirty="0"/>
              <a:t>Average Delivery Delay per Region (Start _Location)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Start _Location AS Region ,</a:t>
            </a:r>
          </a:p>
          <a:p>
            <a:pPr marL="0" indent="0">
              <a:buNone/>
            </a:pPr>
            <a:r>
              <a:rPr lang="en-US" sz="1600" dirty="0"/>
              <a:t>AVG((T1.Actual_Delivery_Date) - (T1.Expected_Delivery_Date)) AS Average _Delivery _Delay _Days</a:t>
            </a:r>
          </a:p>
          <a:p>
            <a:pPr marL="0" indent="0">
              <a:buNone/>
            </a:pPr>
            <a:r>
              <a:rPr lang="en-US" sz="1600" dirty="0"/>
              <a:t>FROM Orders AS T1</a:t>
            </a:r>
          </a:p>
          <a:p>
            <a:pPr marL="0" indent="0">
              <a:buNone/>
            </a:pPr>
            <a:r>
              <a:rPr lang="en-US" sz="1600" dirty="0"/>
              <a:t>INNER JOIN Routes AS T2    ON T1.Route_ID = T2.Route_ID</a:t>
            </a:r>
          </a:p>
          <a:p>
            <a:pPr marL="0" indent="0">
              <a:buNone/>
            </a:pPr>
            <a:r>
              <a:rPr lang="en-US" sz="1600" dirty="0"/>
              <a:t>GROUP BY T2.Start_Location</a:t>
            </a:r>
          </a:p>
          <a:p>
            <a:pPr marL="0" indent="0">
              <a:buNone/>
            </a:pPr>
            <a:r>
              <a:rPr lang="en-US" sz="1600" dirty="0"/>
              <a:t>ORDER BY Average _Delivery _Delay _Days 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8723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78BE-55BA-4C54-4413-2ADC9EB7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Average Delivery Delay per Region (Start _Location)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06FA6-3B0F-637C-B4A7-8424B2A34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2402074"/>
              </p:ext>
            </p:extLst>
          </p:nvPr>
        </p:nvGraphicFramePr>
        <p:xfrm>
          <a:off x="2989007" y="2285841"/>
          <a:ext cx="6508954" cy="4371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3772">
                  <a:extLst>
                    <a:ext uri="{9D8B030D-6E8A-4147-A177-3AD203B41FA5}">
                      <a16:colId xmlns:a16="http://schemas.microsoft.com/office/drawing/2014/main" val="489556857"/>
                    </a:ext>
                  </a:extLst>
                </a:gridCol>
                <a:gridCol w="4055182">
                  <a:extLst>
                    <a:ext uri="{9D8B030D-6E8A-4147-A177-3AD203B41FA5}">
                      <a16:colId xmlns:a16="http://schemas.microsoft.com/office/drawing/2014/main" val="583970162"/>
                    </a:ext>
                  </a:extLst>
                </a:gridCol>
              </a:tblGrid>
              <a:tr h="313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Average_Delivery_Delay_Days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74126384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Jessica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1946045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Ramosside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06019330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Johnville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7948055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West Calvinview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657254"/>
                  </a:ext>
                </a:extLst>
              </a:tr>
              <a:tr h="313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Brianchester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6518921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Juliestad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0086085"/>
                  </a:ext>
                </a:extLst>
              </a:tr>
              <a:tr h="313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Davidborough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5308033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Lowemouth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1146460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Port Tammybury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758008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North Edward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4613117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Aaronhaven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4011899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Robinhaven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3886909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East Amy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3752932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Jenniferfurt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8547490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Bellfurt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69724690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North Aliceside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8306178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Oscarfurt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1950666"/>
                  </a:ext>
                </a:extLst>
              </a:tr>
              <a:tr h="313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Kathrynchester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0797444"/>
                  </a:ext>
                </a:extLst>
              </a:tr>
              <a:tr h="313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Aimeechester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0307474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Jessicastad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800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9537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9438-7723-9FD5-A334-183A77B1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1E05-1739-68E1-E4C7-8600FE1F5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On-Time Delivery % = (Total On-Time Deliveries / Total Deliveries) * 100.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SELECT(SUM(CASE WHEN Delivery _Status = 'On Time' THEN 1 ELSE 0 END) * 100.0) / COUNT(*) AS On _Time _Delivery _Percentage</a:t>
            </a:r>
          </a:p>
          <a:p>
            <a:pPr marL="0" indent="0">
              <a:buNone/>
            </a:pPr>
            <a:r>
              <a:rPr lang="en-US" sz="1600" dirty="0"/>
              <a:t>FROM Orders;</a:t>
            </a:r>
          </a:p>
        </p:txBody>
      </p:sp>
    </p:spTree>
    <p:extLst>
      <p:ext uri="{BB962C8B-B14F-4D97-AF65-F5344CB8AC3E}">
        <p14:creationId xmlns:p14="http://schemas.microsoft.com/office/powerpoint/2010/main" val="20827599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EE9C-897E-9863-4F37-2FDF44DD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On-Time Delivery % = (Total On-Time Deliveries / Total Deliveries) * 100.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744BB2-A0E8-7F94-17AE-41033334D4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601806"/>
              </p:ext>
            </p:extLst>
          </p:nvPr>
        </p:nvGraphicFramePr>
        <p:xfrm>
          <a:off x="7305368" y="2754839"/>
          <a:ext cx="4037985" cy="183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7985">
                  <a:extLst>
                    <a:ext uri="{9D8B030D-6E8A-4147-A177-3AD203B41FA5}">
                      <a16:colId xmlns:a16="http://schemas.microsoft.com/office/drawing/2014/main" val="1701873146"/>
                    </a:ext>
                  </a:extLst>
                </a:gridCol>
              </a:tblGrid>
              <a:tr h="11979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On_Time_Delivery_Percentage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68705322"/>
                  </a:ext>
                </a:extLst>
              </a:tr>
              <a:tr h="6388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4352105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03D28CD-79D6-243C-44AB-9AD1437042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1962258"/>
              </p:ext>
            </p:extLst>
          </p:nvPr>
        </p:nvGraphicFramePr>
        <p:xfrm>
          <a:off x="2295833" y="259817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36974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3423-795E-03DA-C69C-B1BED107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AAAC-AD7E-B7E9-5E8D-2DDD1C102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Traffic Delay per Route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   Route _ID, Traffic _Delay _Min AS Average _Traffic _Delay _Minutes</a:t>
            </a:r>
          </a:p>
          <a:p>
            <a:pPr marL="0" indent="0">
              <a:buNone/>
            </a:pPr>
            <a:r>
              <a:rPr lang="en-US" sz="1600" dirty="0"/>
              <a:t>FROM Routes ORDER BY Route _ID;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72210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9DFC-CE41-1688-5160-A9099189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Average Traffic Delay per Route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E4DFB8-6D7D-4B04-46A0-6A553AA3A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593835"/>
              </p:ext>
            </p:extLst>
          </p:nvPr>
        </p:nvGraphicFramePr>
        <p:xfrm>
          <a:off x="8674100" y="2236680"/>
          <a:ext cx="2832100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195230462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15858604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Average_Traffic_Delay_Minutes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844474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037180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624494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956783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17802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89924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51533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21587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239763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447488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01867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6841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71564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59319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2881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9582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4718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31780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142572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42271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267705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5F7BE9A-05D0-A9E5-6B2A-4F2BF727B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8954313"/>
              </p:ext>
            </p:extLst>
          </p:nvPr>
        </p:nvGraphicFramePr>
        <p:xfrm>
          <a:off x="983226" y="2236679"/>
          <a:ext cx="6980903" cy="3856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33812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55DB-F574-F930-73B4-C27D0A6E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Video submission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09F3B-A669-088A-6142-1E79EBC89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https://www.loom.com/share/8ba515f6b9b34757baa038833a02a0c9?sid=2819b77b-92e5-4035-8547-eaf517011e6a</a:t>
            </a:r>
          </a:p>
        </p:txBody>
      </p:sp>
    </p:spTree>
    <p:extLst>
      <p:ext uri="{BB962C8B-B14F-4D97-AF65-F5344CB8AC3E}">
        <p14:creationId xmlns:p14="http://schemas.microsoft.com/office/powerpoint/2010/main" val="306725382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315</TotalTime>
  <Words>3260</Words>
  <Application>Microsoft Office PowerPoint</Application>
  <PresentationFormat>Widescreen</PresentationFormat>
  <Paragraphs>908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Century Gothic</vt:lpstr>
      <vt:lpstr>Vapor Trail</vt:lpstr>
      <vt:lpstr>Task 1: Data Cleaning &amp; Preparation</vt:lpstr>
      <vt:lpstr>Task 1: Data Cleaning &amp; Preparation</vt:lpstr>
      <vt:lpstr>Task 1: Data Cleaning &amp; Preparation</vt:lpstr>
      <vt:lpstr>Task 1: Data Cleaning &amp; Preparation</vt:lpstr>
      <vt:lpstr>Ensure that no Actual _Delivery _ Date is before Order _ Date (flag such records) </vt:lpstr>
      <vt:lpstr>Task 2: Delivery Delay Analysis </vt:lpstr>
      <vt:lpstr>Calculate delivery delay (in days) for each order </vt:lpstr>
      <vt:lpstr>Task 2: Delivery Delay Analysis </vt:lpstr>
      <vt:lpstr>Find Top 10 delayed routes based on average delay days. </vt:lpstr>
      <vt:lpstr>Task 2: Delivery Delay Analysis </vt:lpstr>
      <vt:lpstr>Use window functions to rank all orders by delay within each warehouse </vt:lpstr>
      <vt:lpstr>Task 3: Route Optimization Insights </vt:lpstr>
      <vt:lpstr>For each route, calculate: ○ Average delivery time (in days). </vt:lpstr>
      <vt:lpstr>Task 3: Route Optimization Insights </vt:lpstr>
      <vt:lpstr>For each route, calculate: ○ Average traffic delay. </vt:lpstr>
      <vt:lpstr>Task 3: Route Optimization Insights </vt:lpstr>
      <vt:lpstr>For each route, calculate: ○ Distance-to-time efficiency ratio</vt:lpstr>
      <vt:lpstr>Task 3: Route Optimization Insights </vt:lpstr>
      <vt:lpstr>Identify 3 routes with the worst efficiency ratio </vt:lpstr>
      <vt:lpstr>Task 3: Route Optimization Insights </vt:lpstr>
      <vt:lpstr>Find routes with &gt;20% delayed shipments. </vt:lpstr>
      <vt:lpstr>Task 3: Route Optimization Insights </vt:lpstr>
      <vt:lpstr>Recommend potential routes for optimization. </vt:lpstr>
      <vt:lpstr>  Task 4: Warehouse Performance</vt:lpstr>
      <vt:lpstr>Find the top 3 warehouses with the highest average processing time. </vt:lpstr>
      <vt:lpstr>Task 4: Warehouse Performance</vt:lpstr>
      <vt:lpstr>Calculate total vs. delayed shipments for each warehouse. </vt:lpstr>
      <vt:lpstr>Task 4: Warehouse Performance</vt:lpstr>
      <vt:lpstr>Use CTEs to find bottleneck warehouses where processing time &gt; global average. </vt:lpstr>
      <vt:lpstr>Task 4: Warehouse Performance  </vt:lpstr>
      <vt:lpstr>Rank warehouses based on on-time delivery percentage </vt:lpstr>
      <vt:lpstr>Task 5: Delivery Agent Performance</vt:lpstr>
      <vt:lpstr>Rank agents (per route) by on-time delivery percentage </vt:lpstr>
      <vt:lpstr>Task 5: Delivery Agent Performance</vt:lpstr>
      <vt:lpstr>Find agents with on-time % &lt; 80%. </vt:lpstr>
      <vt:lpstr>Task 5: Delivery Agent Performance</vt:lpstr>
      <vt:lpstr>Compare average speed of top 5 vs bottom 5 agents using subqueries.</vt:lpstr>
      <vt:lpstr>Task 6: Shipment Tracking Analytics</vt:lpstr>
      <vt:lpstr>For each order, list the last checkpoint and time</vt:lpstr>
      <vt:lpstr>Task 6: Shipment Tracking Analytics</vt:lpstr>
      <vt:lpstr>Find the most common delay reasons (excluding None)</vt:lpstr>
      <vt:lpstr>Task 6: Shipment Tracking Analytics</vt:lpstr>
      <vt:lpstr>Identify orders with &gt;2 delayed checkpoints </vt:lpstr>
      <vt:lpstr>Task 7: Advanced KPI Reporting </vt:lpstr>
      <vt:lpstr>Average Delivery Delay per Region (Start _Location) </vt:lpstr>
      <vt:lpstr>Task 7: Advanced KPI Reporting </vt:lpstr>
      <vt:lpstr>On-Time Delivery % = (Total On-Time Deliveries / Total Deliveries) * 100. </vt:lpstr>
      <vt:lpstr>Task 7: Advanced KPI Reporting </vt:lpstr>
      <vt:lpstr>Average Traffic Delay per Route </vt:lpstr>
      <vt:lpstr>Video submission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RANJAN</dc:creator>
  <cp:lastModifiedBy>RAVI RANJAN</cp:lastModifiedBy>
  <cp:revision>9</cp:revision>
  <dcterms:created xsi:type="dcterms:W3CDTF">2025-10-09T15:22:28Z</dcterms:created>
  <dcterms:modified xsi:type="dcterms:W3CDTF">2025-10-15T04:54:29Z</dcterms:modified>
</cp:coreProperties>
</file>